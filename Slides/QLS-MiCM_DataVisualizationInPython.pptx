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16" r:id="rId2"/>
    <p:sldId id="321" r:id="rId3"/>
    <p:sldId id="338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396" r:id="rId1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A89E"/>
    <a:srgbClr val="72B0AF"/>
    <a:srgbClr val="69B0A0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 autoAdjust="0"/>
    <p:restoredTop sz="94606" autoAdjust="0"/>
  </p:normalViewPr>
  <p:slideViewPr>
    <p:cSldViewPr snapToGrid="0">
      <p:cViewPr varScale="1">
        <p:scale>
          <a:sx n="119" d="100"/>
          <a:sy n="119" d="100"/>
        </p:scale>
        <p:origin x="93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0E883B-34CD-C662-4894-9F17ACB17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C337-8F20-DC0E-F086-75F80A1A91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4AA5-8A3E-4FDB-94BB-BF4B31CB4E3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2B551-A114-1711-7660-206556B02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60C49-B3C8-81BE-2872-8D4647B44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9F605-ADAB-47CB-BC74-76DC0A949A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5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Welcome. Day 1 of the 5-day Code to Manuscript bootcamp (QLS-MiCM, CDSI, D2R, C3G). Introduce yourself and the facilitator. The session is hands-on: almost everything happens in the Colab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971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03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88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Place today in the context of the whole week. Emphasise that the data and the exported files carry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objectives. Prerequisite: basic Python syntax and pandas DataFrames.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Roughly 2 hours. If time is short, Exercise 5 (t-SNE perplexity) can be skipped; Module 6 should not be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Small and fast: 18 samples, ~13k expressed genes. All processing is pre-computed by Exercises/data_scripts/prepare_data.py so we can focus on plotting. Biology hook: infected cornea shows an NF-kB / inflammatory response (SOD2, C3, IL6, TNFAIP3).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everyone 3–4 minutes to open Colab and run the setup cell. Local Jupyter works too: clone the repo and run from Exercises/scripts.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idea of the day. Every element of a plot is an object you can modify. Always use fig, ax = plt.subplots(); this pays off when building multi-panel figures in Module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Wide = how data are usually stored; long = how Seaborn wants them: one row per observation, columns map to x, y, hue, 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Good/bad practice preview for Day 3. Weissgerber et al. 2015 (PLoS Biol) 'Beyond bar and line graphs' is a good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Cornea CoV2 vs mock. Top genes are NF-kB targets (SOD2, C3, TNFAIP3, CXCL1) — matches the paper's inflammatory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Rainbow/jet is not perceptually uniform and is unreadable for colour-blind readers (Crameri et al. 2020, Nat Commun).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maths light. Point out that tissue dominates PC1/PC2; the notebook's within-tissue PCA shows infection on PC1. Message: PCA is the default for bulk data; t-SNE/UMAP are for many points (single cell) and are sensitive to parameters — Exercise 5 shows this. Always set and report the random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Colab, files in figures/ vanish when the session ends: run the download cell. Never screenshot a plot for a paper. Keep the exported PDF/SVG: participants bring it to Day 4 (Inkscape).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checklist is also at the end of the notebook. We'll build on it on Day 3 (good vs bad practices).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participants to fill the Day 3 registration question about their data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9" r:id="rId8"/>
  </p:sldLayoutIdLst>
  <p:hf sldNum="0" hdr="0" ftr="0" dt="0"/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gill.ca/micm/training/workshops-seri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lab.research.google.com/github/QLS-MiCM/DataVisualizationInPython/blob/main/Exercises/scripts/DataVisualizationInPython.ipyn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tinyurl.com/QLS-MiCM-Feedback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194560"/>
            <a:ext cx="8046720" cy="914400"/>
          </a:xfrm>
        </p:spPr>
        <p:txBody>
          <a:bodyPr>
            <a:normAutofit/>
          </a:bodyPr>
          <a:lstStyle/>
          <a:p>
            <a:pPr algn="ctr"/>
            <a:r>
              <a:rPr lang="en-CA" sz="4000" dirty="0">
                <a:latin typeface="Helvetica"/>
                <a:cs typeface="Helvetica"/>
              </a:rPr>
              <a:t>Data Visualization in Python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13291-C55D-7CB6-6FB8-00826C7B6F25}"/>
              </a:ext>
            </a:extLst>
          </p:cNvPr>
          <p:cNvSpPr txBox="1"/>
          <p:nvPr/>
        </p:nvSpPr>
        <p:spPr>
          <a:xfrm>
            <a:off x="91440" y="5074920"/>
            <a:ext cx="448056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500" dirty="0">
                <a:latin typeface="Helvetica Light"/>
              </a:rPr>
              <a:t>Instructor: Zahra Tavakol Hamedani</a:t>
            </a:r>
          </a:p>
          <a:p>
            <a:r>
              <a:rPr lang="en-CA" sz="1500" dirty="0">
                <a:latin typeface="Helvetica Light"/>
              </a:rPr>
              <a:t>Facilitator: Sameena Karsan</a:t>
            </a:r>
          </a:p>
          <a:p>
            <a:r>
              <a:rPr lang="en-CA" sz="1500">
                <a:latin typeface="Helvetica Light"/>
              </a:rPr>
              <a:t>October 26, 2026 · McIntyre 1027</a:t>
            </a:r>
            <a:endParaRPr lang="en-CA" dirty="0">
              <a:latin typeface="Helvetica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55555"/>
                </a:solidFill>
                <a:latin typeface="Helvetica Light"/>
              </a:rPr>
              <a:t>From RNA-seq counts to publication-ready figures with Matplotlib &amp; Seaborn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C8102E"/>
                </a:solidFill>
              </a:rPr>
              <a:t>CODE TO MANUSCRIPT BOOTCAMP  ·  DAY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34CCA6-CDD6-465D-2360-AB7DC40CC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34" y="86062"/>
            <a:ext cx="2869466" cy="739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9423C5-7D7C-586B-AA0E-EB613C5E2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0149"/>
            <a:ext cx="3295078" cy="728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ED38D6-DAFB-3D69-C0D0-22E7332E7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092" y="451368"/>
            <a:ext cx="3087814" cy="170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287892"/>
            <a:ext cx="3224152" cy="646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Location: 550 Sherbrooke Street,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820547" y="1461827"/>
            <a:ext cx="750290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itchFamily="2" charset="0"/>
              </a:rPr>
              <a:t>QLS-MiCM mission statement: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825" y="208818"/>
            <a:ext cx="3732349" cy="900740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Scan the QR code to sign up </a:t>
            </a:r>
          </a:p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for our </a:t>
            </a:r>
            <a:r>
              <a:rPr lang="en-CA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mailing list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60708" y="6210464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Contact: </a:t>
            </a: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  <a:hlinkClick r:id="rId5"/>
              </a:rPr>
              <a:t>workshop-micm@mcgill.ca</a:t>
            </a: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pic>
        <p:nvPicPr>
          <p:cNvPr id="2" name="Picture 1" descr="A map of a city&#10;&#10;Description automatically generated">
            <a:extLst>
              <a:ext uri="{FF2B5EF4-FFF2-40B4-BE49-F238E27FC236}">
                <a16:creationId xmlns:a16="http://schemas.microsoft.com/office/drawing/2014/main" id="{0D7302FE-4674-2672-DBA9-50C4E86C9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87" y="2649379"/>
            <a:ext cx="2868491" cy="23565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647890" y="5514116"/>
            <a:ext cx="584822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itchFamily="2" charset="0"/>
                <a:hlinkClick r:id="rId3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96498-6607-422D-4649-CD2575F6D567}"/>
              </a:ext>
            </a:extLst>
          </p:cNvPr>
          <p:cNvSpPr txBox="1"/>
          <p:nvPr/>
        </p:nvSpPr>
        <p:spPr>
          <a:xfrm>
            <a:off x="2597550" y="1295601"/>
            <a:ext cx="42086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Workshop Series</a:t>
            </a:r>
            <a:endParaRPr lang="en-US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30577-92C0-D4A6-33C8-B5AB0C9DE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499" y="1941932"/>
            <a:ext cx="342900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The Code to Manuscript bootcamp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1517904" cy="2331720"/>
          </a:xfrm>
          <a:prstGeom prst="roundRect">
            <a:avLst>
              <a:gd name="adj" fmla="val 8000"/>
            </a:avLst>
          </a:prstGeom>
          <a:solidFill>
            <a:srgbClr val="FDEEEF"/>
          </a:solidFill>
          <a:ln w="317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508760"/>
            <a:ext cx="15179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C8102E"/>
                </a:solidFill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Mon Oct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426463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</a:rPr>
              <a:t>Data visualization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00400"/>
            <a:ext cx="15179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</a:rPr>
              <a:t>Matplotlib · Seaborn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8527" y="2487168"/>
            <a:ext cx="137160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84831" y="1417320"/>
            <a:ext cx="1517904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4831" y="1508760"/>
            <a:ext cx="15179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5F66"/>
                </a:solidFill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1874519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Tue Oct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1" y="2240280"/>
            <a:ext cx="1426463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</a:rPr>
              <a:t>Data visualization in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3200400"/>
            <a:ext cx="15179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</a:rPr>
              <a:t>ggplot2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11879" y="2487168"/>
            <a:ext cx="137160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58183" y="1417320"/>
            <a:ext cx="1517904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58183" y="1508760"/>
            <a:ext cx="15179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5F66"/>
                </a:solidFill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3" y="1874519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Wed Oct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3" y="2240280"/>
            <a:ext cx="1426463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</a:rPr>
              <a:t>Bring your own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3200400"/>
            <a:ext cx="15179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</a:rPr>
              <a:t>Python or 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85231" y="2487168"/>
            <a:ext cx="137160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31536" y="1417320"/>
            <a:ext cx="1517904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31536" y="1508760"/>
            <a:ext cx="15179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5F66"/>
                </a:solidFill>
              </a:rPr>
              <a:t>Day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1874519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Thu Oct 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2240280"/>
            <a:ext cx="1426463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</a:rPr>
              <a:t>Building figures with Inkscape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200400"/>
            <a:ext cx="15179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</a:rPr>
              <a:t>Inkscape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58583" y="2487168"/>
            <a:ext cx="137160" cy="201168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04888" y="1417320"/>
            <a:ext cx="1517904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04888" y="1508760"/>
            <a:ext cx="15179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5F66"/>
                </a:solidFill>
              </a:rPr>
              <a:t>Day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1874519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Fri Oct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7" y="2240280"/>
            <a:ext cx="1426463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</a:rPr>
              <a:t>Writing with LaTeX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200400"/>
            <a:ext cx="151790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</a:rPr>
              <a:t>Overleaf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886200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8102E"/>
                </a:solidFill>
              </a:rPr>
              <a:t>▲ TODAY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343400"/>
            <a:ext cx="8321040" cy="146304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434840"/>
            <a:ext cx="7955279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F5F66"/>
                </a:solidFill>
              </a:rPr>
              <a:t>Today's goal: </a:t>
            </a:r>
            <a:r>
              <a:rPr sz="1400" b="0" i="0">
                <a:solidFill>
                  <a:srgbClr val="222222"/>
                </a:solidFill>
              </a:rPr>
              <a:t>turn an RNA-seq dataset into a multi-panel, publication-ready figure in Python.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5F66"/>
                </a:solidFill>
              </a:rPr>
              <a:t>Today's output → tomorrow's input: </a:t>
            </a:r>
            <a:r>
              <a:rPr sz="1400" b="0" i="0">
                <a:solidFill>
                  <a:srgbClr val="222222"/>
                </a:solidFill>
              </a:rPr>
              <a:t>Day 2 uses the </a:t>
            </a:r>
            <a:r>
              <a:rPr sz="1400" b="1" i="0">
                <a:solidFill>
                  <a:srgbClr val="222222"/>
                </a:solidFill>
              </a:rPr>
              <a:t>same dataset</a:t>
            </a:r>
            <a:r>
              <a:rPr sz="1400" b="0" i="0">
                <a:solidFill>
                  <a:srgbClr val="222222"/>
                </a:solidFill>
              </a:rPr>
              <a:t> in R; the vector PDF/SVG you export today is what you polish in </a:t>
            </a:r>
            <a:r>
              <a:rPr sz="1400" b="1" i="0">
                <a:solidFill>
                  <a:srgbClr val="222222"/>
                </a:solidFill>
              </a:rPr>
              <a:t>Inkscape</a:t>
            </a:r>
            <a:r>
              <a:rPr sz="1400" b="0" i="0">
                <a:solidFill>
                  <a:srgbClr val="222222"/>
                </a:solidFill>
              </a:rPr>
              <a:t> (Day 4) and place in </a:t>
            </a:r>
            <a:r>
              <a:rPr sz="1400" b="1" i="0">
                <a:solidFill>
                  <a:srgbClr val="222222"/>
                </a:solidFill>
              </a:rPr>
              <a:t>LaTeX</a:t>
            </a:r>
            <a:r>
              <a:rPr sz="1400" b="0" i="0">
                <a:solidFill>
                  <a:srgbClr val="222222"/>
                </a:solidFill>
              </a:rPr>
              <a:t> (Day 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1381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</a:rPr>
              <a:t>In this 2-hour hands-on session we explore the Python visualization ecosystem: how Seaborn's high-level statistical plots are built on Matplotlib Figure and Axes objects, and how to combine both to produce clear, high-resolution figures from real biological data.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67127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21408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5F66"/>
                </a:solidFill>
              </a:rPr>
              <a:t>Explain </a:t>
            </a:r>
            <a:r>
              <a:rPr sz="1500" b="0" i="0">
                <a:solidFill>
                  <a:srgbClr val="222222"/>
                </a:solidFill>
              </a:rPr>
              <a:t>the Figure / Axes model and use Matplotlib's object-oriented interface.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926079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803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5F66"/>
                </a:solidFill>
              </a:rPr>
              <a:t>Reshape </a:t>
            </a:r>
            <a:r>
              <a:rPr sz="1500" b="0" i="0">
                <a:solidFill>
                  <a:srgbClr val="222222"/>
                </a:solidFill>
              </a:rPr>
              <a:t>data into tidy format and use axes-level vs. figure-level Seaborn functions.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8503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39312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5F66"/>
                </a:solidFill>
              </a:rPr>
              <a:t>Create </a:t>
            </a:r>
            <a:r>
              <a:rPr sz="1500" b="0" i="0">
                <a:solidFill>
                  <a:srgbClr val="222222"/>
                </a:solidFill>
              </a:rPr>
              <a:t>QC, distribution, scatter, volcano, heatmap and PCA / t-SNE / UMAP plots of RNA-seq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79975"/>
            <a:ext cx="502920" cy="502920"/>
          </a:xfrm>
          <a:prstGeom prst="ellipse">
            <a:avLst/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443983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98263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5F66"/>
                </a:solidFill>
              </a:rPr>
              <a:t>Assemble </a:t>
            </a:r>
            <a:r>
              <a:rPr sz="1500" b="0" i="0">
                <a:solidFill>
                  <a:srgbClr val="222222"/>
                </a:solidFill>
              </a:rPr>
              <a:t>a multi-panel figure at journal dimensions with a consistent, colour-blind-safe style.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138927"/>
            <a:ext cx="502920" cy="502920"/>
          </a:xfrm>
          <a:prstGeom prst="ellipse">
            <a:avLst/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202936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157215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5F66"/>
                </a:solidFill>
              </a:rPr>
              <a:t>Export </a:t>
            </a:r>
            <a:r>
              <a:rPr sz="1500" b="0" i="0">
                <a:solidFill>
                  <a:srgbClr val="222222"/>
                </a:solidFill>
              </a:rPr>
              <a:t>vector (PDF/SVG) and high-dpi raster files ready for Inkscape and LaTeX.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Outline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F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1F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>
                    <a:solidFill>
                      <a:srgbClr val="1F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Setup &amp; the dataset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Anatomy of a Matplotlib figure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Seaborn, tidy data &amp; distributions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Relationships: scatter, MA &amp; volcano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Heatmaps &amp; clustered heatmaps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Dimensionality reduction: PCA, t-SNE, UMAP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Multi-panel figures &amp; high-resolution export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3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Wrap-up, checklist &amp;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40680"/>
            <a:ext cx="8046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1">
                <a:solidFill>
                  <a:srgbClr val="555555"/>
                </a:solidFill>
              </a:rPr>
              <a:t>✏️  Every module ends with a short exercise in the notebook.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Today's dataset: SARS-CoV-2 &amp; the 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</a:rPr>
              <a:t>Bulk RNA-seq of post-mortem human ocular tissue infected ex vivo with SARS-CoV-2 or mock — </a:t>
            </a:r>
            <a:r>
              <a:rPr sz="1400" b="0" i="1">
                <a:solidFill>
                  <a:srgbClr val="555555"/>
                </a:solidFill>
              </a:rPr>
              <a:t>Eriksen et al., Cell Stem Cell 2021</a:t>
            </a:r>
            <a:r>
              <a:rPr sz="1400" b="1" i="0">
                <a:solidFill>
                  <a:srgbClr val="555555"/>
                </a:solidFill>
              </a:rPr>
              <a:t> · GEO GSE164073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170992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728216"/>
            <a:ext cx="1234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cornea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70992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97480" y="1728216"/>
            <a:ext cx="1234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limbus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40" y="170992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1728216"/>
            <a:ext cx="1234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sclera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868680" cy="685800"/>
          </a:xfrm>
          <a:prstGeom prst="roundRect">
            <a:avLst>
              <a:gd name="adj" fmla="val 20000"/>
            </a:avLst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868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mock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19456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09928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02536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2295144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0" y="219456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44368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36976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29584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77640" y="219456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4178808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71416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4764024" y="2404872"/>
            <a:ext cx="201168" cy="201168"/>
          </a:xfrm>
          <a:prstGeom prst="ellipse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2971800"/>
            <a:ext cx="868680" cy="685800"/>
          </a:xfrm>
          <a:prstGeom prst="roundRect">
            <a:avLst>
              <a:gd name="adj" fmla="val 20000"/>
            </a:avLst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108960"/>
            <a:ext cx="868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CoV2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8760" y="297180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09928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2002536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95144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743200" y="297180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2944368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36976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29584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977640" y="297180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4178808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71416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64024" y="3182112"/>
            <a:ext cx="201168" cy="201168"/>
          </a:xfrm>
          <a:prstGeom prst="ellipse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794759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</a:rPr>
              <a:t>3 tissues × 2 conditions × 3 donors = </a:t>
            </a:r>
            <a:r>
              <a:rPr sz="1400" b="1" i="0">
                <a:solidFill>
                  <a:srgbClr val="222222"/>
                </a:solidFill>
              </a:rPr>
              <a:t>18 samples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691640"/>
            <a:ext cx="3200400" cy="260604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1828800"/>
            <a:ext cx="3017520" cy="310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F5F66"/>
                </a:solidFill>
                <a:latin typeface="Courier New"/>
              </a:rPr>
              <a:t>Exercises/data/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ourier New"/>
              </a:rPr>
              <a:t>sample_metadata.csv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555555"/>
                </a:solidFill>
              </a:rPr>
              <a:t>sample · tissue · condition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222222"/>
                </a:solidFill>
                <a:latin typeface="Courier New"/>
              </a:rPr>
              <a:t>GSE164073_Eye_count_matrix.tsv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555555"/>
                </a:solidFill>
              </a:rPr>
              <a:t>raw counts, genes × samples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ourier New"/>
              </a:rPr>
              <a:t>log2cpm_filtered.csv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555555"/>
                </a:solidFill>
              </a:rPr>
              <a:t>normalised expression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222222"/>
                </a:solidFill>
                <a:latin typeface="Courier New"/>
              </a:rPr>
              <a:t>de_cornea_CoV2_vs_mock.csv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555555"/>
                </a:solidFill>
              </a:rPr>
              <a:t>DE results (PyDESeq2)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20640"/>
            <a:ext cx="818387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7955279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Same data in </a:t>
            </a:r>
            <a:r>
              <a:rPr sz="1300" b="1" i="0">
                <a:solidFill>
                  <a:srgbClr val="222222"/>
                </a:solidFill>
              </a:rPr>
              <a:t>Day 2 (ggplot2)</a:t>
            </a:r>
            <a:r>
              <a:rPr sz="1300" b="0" i="0">
                <a:solidFill>
                  <a:srgbClr val="222222"/>
                </a:solidFill>
              </a:rPr>
              <a:t> and in the QLS-MiCM Differential Gene Expression workshop. Today we focus on </a:t>
            </a:r>
            <a:r>
              <a:rPr sz="1300" b="1" i="1">
                <a:solidFill>
                  <a:srgbClr val="222222"/>
                </a:solidFill>
              </a:rPr>
              <a:t>showing</a:t>
            </a:r>
            <a:r>
              <a:rPr sz="1300" b="0" i="0">
                <a:solidFill>
                  <a:srgbClr val="222222"/>
                </a:solidFill>
              </a:rPr>
              <a:t> data, not on the statistics behind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Interactive workshop — open the notebook!</a:t>
            </a:r>
          </a:p>
        </p:txBody>
      </p:sp>
      <p:pic>
        <p:nvPicPr>
          <p:cNvPr id="3" name="Picture 2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703320"/>
            <a:ext cx="28346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Courier New"/>
              </a:rPr>
              <a:t>github.com/QLS-MiCM/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Courier New"/>
              </a:rPr>
              <a:t>DataVisualizationInPython</a:t>
            </a:r>
          </a:p>
        </p:txBody>
      </p:sp>
      <p:sp>
        <p:nvSpPr>
          <p:cNvPr id="5" name="Rounded Rectangle 4">
            <a:hlinkClick r:id="rId4"/>
          </p:cNvPr>
          <p:cNvSpPr/>
          <p:nvPr/>
        </p:nvSpPr>
        <p:spPr>
          <a:xfrm>
            <a:off x="685800" y="434340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1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40740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</a:rPr>
              <a:t>▶  Open in Colab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1325880"/>
            <a:ext cx="457200" cy="457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380744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289304"/>
            <a:ext cx="4572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</a:rPr>
              <a:t>Open the student notebook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</a:rPr>
              <a:t>in Google Colab (link in the README) — no install needed.</a:t>
            </a:r>
          </a:p>
        </p:txBody>
      </p:sp>
      <p:sp>
        <p:nvSpPr>
          <p:cNvPr id="10" name="Oval 9"/>
          <p:cNvSpPr/>
          <p:nvPr/>
        </p:nvSpPr>
        <p:spPr>
          <a:xfrm>
            <a:off x="3566160" y="2286000"/>
            <a:ext cx="457200" cy="457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340864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49424"/>
            <a:ext cx="4572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</a:rPr>
              <a:t>Run the first setup cell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</a:rPr>
              <a:t>it installs umap-learn &amp; adjustText and loads the data from GitHub.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3246120"/>
            <a:ext cx="457200" cy="457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3300984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209544"/>
            <a:ext cx="4572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</a:rPr>
              <a:t>Fill in the blanks ___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</a:rPr>
              <a:t>in each ✏️ Exercise cell, then run it.</a:t>
            </a:r>
          </a:p>
        </p:txBody>
      </p:sp>
      <p:sp>
        <p:nvSpPr>
          <p:cNvPr id="16" name="Oval 15"/>
          <p:cNvSpPr/>
          <p:nvPr/>
        </p:nvSpPr>
        <p:spPr>
          <a:xfrm>
            <a:off x="3566160" y="4206240"/>
            <a:ext cx="457200" cy="457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4261104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169664"/>
            <a:ext cx="4572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</a:rPr>
              <a:t>Stuck?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</a:rPr>
              <a:t>raise your hand — or peek at the solutions notebook.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Anatomy of a Matplotlib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1</a:t>
            </a:r>
          </a:p>
        </p:txBody>
      </p:sp>
      <p:pic>
        <p:nvPicPr>
          <p:cNvPr id="4" name="Picture 3" descr="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32120" y="1097280"/>
            <a:ext cx="3200400" cy="132588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3559" y="1143000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9CDCFE"/>
                </a:solidFill>
              </a:rPr>
              <a:t>Implicit  (plt.)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59" y="1417320"/>
            <a:ext cx="3017520" cy="960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plt.plot(x, y)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plt.title('...')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8AC07A"/>
                </a:solidFill>
                <a:latin typeface="Courier New"/>
              </a:rPr>
              <a:t># which plot am I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8AC07A"/>
                </a:solidFill>
                <a:latin typeface="Courier New"/>
              </a:rPr>
              <a:t># editing 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2560320"/>
            <a:ext cx="3200400" cy="16002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559" y="2606039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9CDCFE"/>
                </a:solidFill>
              </a:rPr>
              <a:t>Explicit / OO  ✔ 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2880359"/>
            <a:ext cx="30175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fig, ax = plt.subplots()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ax.plot(x, y)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ax.set_title('...')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EEEEEE"/>
                </a:solidFill>
                <a:latin typeface="Courier New"/>
              </a:rPr>
              <a:t>ax.set_xlabel('...')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297680"/>
            <a:ext cx="320040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8102E"/>
                </a:solidFill>
              </a:rPr>
              <a:t>•  Figure</a:t>
            </a:r>
            <a:r>
              <a:rPr sz="1300" b="0" i="0">
                <a:solidFill>
                  <a:srgbClr val="222222"/>
                </a:solidFill>
              </a:rPr>
              <a:t> = the canvas (size, saving)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1" i="0">
                <a:solidFill>
                  <a:srgbClr val="009E73"/>
                </a:solidFill>
              </a:rPr>
              <a:t>Axes</a:t>
            </a:r>
            <a:r>
              <a:rPr sz="1300" b="0" i="0">
                <a:solidFill>
                  <a:srgbClr val="222222"/>
                </a:solidFill>
              </a:rPr>
              <a:t> = one plot (data, labels, ticks)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0" i="0">
                <a:solidFill>
                  <a:srgbClr val="222222"/>
                </a:solidFill>
              </a:rPr>
              <a:t>Seaborn draws </a:t>
            </a:r>
            <a:r>
              <a:rPr sz="1300" b="0" i="1">
                <a:solidFill>
                  <a:srgbClr val="222222"/>
                </a:solidFill>
              </a:rPr>
              <a:t>on</a:t>
            </a:r>
            <a:r>
              <a:rPr sz="1300" b="0" i="0">
                <a:solidFill>
                  <a:srgbClr val="222222"/>
                </a:solidFill>
              </a:rPr>
              <a:t> Axes → anything is customisable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Seaborn speaks tidy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2</a:t>
            </a:r>
          </a:p>
        </p:txBody>
      </p:sp>
      <p:pic>
        <p:nvPicPr>
          <p:cNvPr id="4" name="Picture 3" descr="ti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7642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977639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069080"/>
            <a:ext cx="3749039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5F66"/>
                </a:solidFill>
              </a:rPr>
              <a:t>Axes-level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ourier New"/>
              </a:rPr>
              <a:t>sns.scatterplot · boxplot · violinplot · heatmap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Draw on one Axes → pass ax= and place them in your own layout.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977639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4069080"/>
            <a:ext cx="3749039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5F66"/>
                </a:solidFill>
              </a:rPr>
              <a:t>Figure-level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22222"/>
                </a:solidFill>
                <a:latin typeface="Courier New"/>
              </a:rPr>
              <a:t>sns.relplot · catplot · displot · clustermap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Create their own figure → easy small multiples with col= / row=.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With small n, show the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2</a:t>
            </a:r>
          </a:p>
        </p:txBody>
      </p:sp>
      <p:pic>
        <p:nvPicPr>
          <p:cNvPr id="4" name="Picture 3" descr="c20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229600" cy="31858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26280"/>
            <a:ext cx="81381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n = 3 per group: </a:t>
            </a:r>
            <a:r>
              <a:rPr sz="1400" b="0" i="0">
                <a:solidFill>
                  <a:srgbClr val="222222"/>
                </a:solidFill>
              </a:rPr>
              <a:t>a bar of means hides sample size, spread and outliers.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Overlay individual observations </a:t>
            </a:r>
            <a:r>
              <a:rPr sz="1400" b="0" i="0">
                <a:solidFill>
                  <a:srgbClr val="222222"/>
                </a:solidFill>
                <a:latin typeface="Courier New"/>
              </a:rPr>
              <a:t>(sns.stripplot</a:t>
            </a:r>
            <a:r>
              <a:rPr sz="1400" b="0" i="0">
                <a:solidFill>
                  <a:srgbClr val="222222"/>
                </a:solidFill>
              </a:rPr>
              <a:t> on top of </a:t>
            </a:r>
            <a:r>
              <a:rPr sz="1400" b="0" i="0">
                <a:solidFill>
                  <a:srgbClr val="222222"/>
                </a:solidFill>
                <a:latin typeface="Courier New"/>
              </a:rPr>
              <a:t>sns.boxplot</a:t>
            </a:r>
            <a:r>
              <a:rPr sz="1400" b="0" i="0">
                <a:solidFill>
                  <a:srgbClr val="222222"/>
                </a:solidFill>
              </a:rPr>
              <a:t>) and define error bars in the legend.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Keep colours consistent: </a:t>
            </a:r>
            <a:r>
              <a:rPr sz="1400" b="0" i="0">
                <a:solidFill>
                  <a:srgbClr val="222222"/>
                </a:solidFill>
              </a:rPr>
              <a:t>define a palette dictionary once and reuse it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Relationships: volcano &amp; MA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3</a:t>
            </a:r>
          </a:p>
        </p:txBody>
      </p:sp>
      <p:pic>
        <p:nvPicPr>
          <p:cNvPr id="4" name="Picture 3" descr="c25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21656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1188720"/>
            <a:ext cx="329184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x</a:t>
            </a:r>
            <a:r>
              <a:rPr sz="1400" b="0" i="0">
                <a:solidFill>
                  <a:srgbClr val="222222"/>
                </a:solidFill>
              </a:rPr>
              <a:t>: effect size — log₂ fold change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y</a:t>
            </a:r>
            <a:r>
              <a:rPr sz="1400" b="0" i="0">
                <a:solidFill>
                  <a:srgbClr val="222222"/>
                </a:solidFill>
              </a:rPr>
              <a:t>: significance — −log₁₀ adj. p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Threshold lines</a:t>
            </a:r>
            <a:r>
              <a:rPr sz="1400" b="0" i="0">
                <a:solidFill>
                  <a:srgbClr val="222222"/>
                </a:solidFill>
              </a:rPr>
              <a:t> via ax.axhline / ax.axvline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Label key genes</a:t>
            </a:r>
            <a:r>
              <a:rPr sz="1400" b="0" i="0">
                <a:solidFill>
                  <a:srgbClr val="222222"/>
                </a:solidFill>
              </a:rPr>
              <a:t> — adjustText avoids overlaps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  <a:latin typeface="Courier New"/>
              </a:rPr>
              <a:t>rasterized=True</a:t>
            </a:r>
            <a:r>
              <a:rPr sz="1400" b="0" i="0">
                <a:solidFill>
                  <a:srgbClr val="222222"/>
                </a:solidFill>
              </a:rPr>
              <a:t> for &gt;10k points: small, fast vector files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1F5F66"/>
                </a:solidFill>
              </a:rPr>
              <a:t>Exercise 3: </a:t>
            </a:r>
            <a:r>
              <a:rPr sz="1400" b="0" i="0">
                <a:solidFill>
                  <a:srgbClr val="222222"/>
                </a:solidFill>
              </a:rPr>
              <a:t>build the MA plot (mean expression vs fold change)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Heatmaps: choose the colour map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4</a:t>
            </a:r>
          </a:p>
        </p:txBody>
      </p:sp>
      <p:pic>
        <p:nvPicPr>
          <p:cNvPr id="4" name="Picture 3" descr="color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5120640" cy="2901696"/>
          </a:xfrm>
          <a:prstGeom prst="rect">
            <a:avLst/>
          </a:prstGeom>
        </p:spPr>
      </p:pic>
      <p:pic>
        <p:nvPicPr>
          <p:cNvPr id="5" name="Picture 4" descr="c32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005840"/>
            <a:ext cx="3538922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5029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1" i="0">
                <a:solidFill>
                  <a:srgbClr val="222222"/>
                </a:solidFill>
              </a:rPr>
              <a:t>Sequential</a:t>
            </a:r>
            <a:r>
              <a:rPr sz="1300" b="0" i="0">
                <a:solidFill>
                  <a:srgbClr val="222222"/>
                </a:solidFill>
              </a:rPr>
              <a:t> for low → high (correlations, counts)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1" i="0">
                <a:solidFill>
                  <a:srgbClr val="222222"/>
                </a:solidFill>
              </a:rPr>
              <a:t>Diverging</a:t>
            </a:r>
            <a:r>
              <a:rPr sz="1300" b="0" i="0">
                <a:solidFill>
                  <a:srgbClr val="222222"/>
                </a:solidFill>
              </a:rPr>
              <a:t> + </a:t>
            </a:r>
            <a:r>
              <a:rPr sz="1300" b="0" i="0">
                <a:solidFill>
                  <a:srgbClr val="222222"/>
                </a:solidFill>
                <a:latin typeface="Courier New"/>
              </a:rPr>
              <a:t>center=0</a:t>
            </a:r>
            <a:r>
              <a:rPr sz="1300" b="0" i="0">
                <a:solidFill>
                  <a:srgbClr val="222222"/>
                </a:solidFill>
              </a:rPr>
              <a:t> for z-scores, fold changes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1" i="0">
                <a:solidFill>
                  <a:srgbClr val="222222"/>
                </a:solidFill>
              </a:rPr>
              <a:t>z-score genes</a:t>
            </a:r>
            <a:r>
              <a:rPr sz="1300" b="0" i="0">
                <a:solidFill>
                  <a:srgbClr val="222222"/>
                </a:solidFill>
              </a:rPr>
              <a:t> (</a:t>
            </a:r>
            <a:r>
              <a:rPr sz="1300" b="0" i="0">
                <a:solidFill>
                  <a:srgbClr val="222222"/>
                </a:solidFill>
                <a:latin typeface="Courier New"/>
              </a:rPr>
              <a:t>z_score=0</a:t>
            </a:r>
            <a:r>
              <a:rPr sz="1300" b="0" i="0">
                <a:solidFill>
                  <a:srgbClr val="222222"/>
                </a:solidFill>
              </a:rPr>
              <a:t>) to compare patterns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1" i="0">
                <a:solidFill>
                  <a:srgbClr val="222222"/>
                </a:solidFill>
              </a:rPr>
              <a:t>Annotate groups</a:t>
            </a:r>
            <a:r>
              <a:rPr sz="1300" b="0" i="0">
                <a:solidFill>
                  <a:srgbClr val="222222"/>
                </a:solidFill>
              </a:rPr>
              <a:t> with </a:t>
            </a:r>
            <a:r>
              <a:rPr sz="1300" b="0" i="0">
                <a:solidFill>
                  <a:srgbClr val="222222"/>
                </a:solidFill>
                <a:latin typeface="Courier New"/>
              </a:rPr>
              <a:t>col_colors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Dimensionality reduction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5</a:t>
            </a:r>
          </a:p>
        </p:txBody>
      </p:sp>
      <p:pic>
        <p:nvPicPr>
          <p:cNvPr id="4" name="Picture 3" descr="c37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7863840" cy="241427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840480"/>
          <a:ext cx="8321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>
                    <a:solidFill>
                      <a:srgbClr val="1F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PCA</a:t>
                      </a:r>
                    </a:p>
                  </a:txBody>
                  <a:tcPr marT="27432" marB="27432">
                    <a:solidFill>
                      <a:srgbClr val="1F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t-SNE</a:t>
                      </a:r>
                    </a:p>
                  </a:txBody>
                  <a:tcPr marT="27432" marB="27432">
                    <a:solidFill>
                      <a:srgbClr val="1F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UMAP</a:t>
                      </a:r>
                    </a:p>
                  </a:txBody>
                  <a:tcPr marT="27432" marB="27432">
                    <a:solidFill>
                      <a:srgbClr val="1F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Type</a:t>
                      </a:r>
                    </a:p>
                  </a:txBody>
                  <a:tcPr marT="27432" marB="27432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linear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non-linear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non-linear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Axes mean…</a:t>
                      </a:r>
                    </a:p>
                  </a:txBody>
                  <a:tcPr marT="27432" marB="27432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% variance explained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nothing (no units)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nothing (no units)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Good for</a:t>
                      </a:r>
                    </a:p>
                  </a:txBody>
                  <a:tcPr marT="27432" marB="27432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bulk RNA-seq, global structure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local clusters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clusters + some global layout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Report</a:t>
                      </a:r>
                    </a:p>
                  </a:txBody>
                  <a:tcPr marT="27432" marB="27432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 features, scaling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perplexity, seed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n_neighbors, min_dist, seed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456432"/>
            <a:ext cx="8321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</a:rPr>
              <a:t>Tissue dominates PC1–PC2; infection only separates samples in a </a:t>
            </a:r>
            <a:r>
              <a:rPr sz="1200" b="1" i="0">
                <a:solidFill>
                  <a:srgbClr val="555555"/>
                </a:solidFill>
              </a:rPr>
              <a:t>within-tissue</a:t>
            </a:r>
            <a:r>
              <a:rPr sz="1200" b="0" i="0">
                <a:solidFill>
                  <a:srgbClr val="555555"/>
                </a:solidFill>
              </a:rPr>
              <a:t> PCA (notebook).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Multi-panel figures &amp;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Helvetica"/>
              </a:rPr>
              <a:t>MODULE 6</a:t>
            </a:r>
          </a:p>
        </p:txBody>
      </p:sp>
      <p:pic>
        <p:nvPicPr>
          <p:cNvPr id="4" name="Picture 3" descr="Figure1_cornea_Co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029200" cy="39123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32120" y="1051560"/>
            <a:ext cx="3246120" cy="25146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3559" y="1097280"/>
            <a:ext cx="3063239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MM = 1 / 25.4  # mm -&gt; inch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fig, axd = plt.subplot_mosaic(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    'AB;CD',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    figsize=(180*MM, 140*MM),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    layout='constrained')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plt.rcParams['pdf.fonttype'] = 42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plt.rcParams['svg.fonttype'] = 'none'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8AC07A"/>
                </a:solidFill>
                <a:latin typeface="Courier New"/>
              </a:rPr>
              <a:t># no bbox_inches='tight': keep 180 mm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fig.savefig('Fig1.pdf')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Courier New"/>
              </a:rPr>
              <a:t>fig.savefig('Fig1.png', dpi=600)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3749039"/>
            <a:ext cx="3246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C8102E"/>
                </a:solidFill>
              </a:rPr>
              <a:t>•  </a:t>
            </a:r>
            <a:r>
              <a:rPr sz="1250" b="1" i="0">
                <a:solidFill>
                  <a:srgbClr val="222222"/>
                </a:solidFill>
              </a:rPr>
              <a:t>Size in mm</a:t>
            </a:r>
            <a:r>
              <a:rPr sz="1250" b="0" i="0">
                <a:solidFill>
                  <a:srgbClr val="222222"/>
                </a:solidFill>
              </a:rPr>
              <a:t>: 85 (1 col) / 180 (2 col)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C8102E"/>
                </a:solidFill>
              </a:rPr>
              <a:t>•  </a:t>
            </a:r>
            <a:r>
              <a:rPr sz="1250" b="1" i="0">
                <a:solidFill>
                  <a:srgbClr val="222222"/>
                </a:solidFill>
              </a:rPr>
              <a:t>Fonts ≥ 6 pt</a:t>
            </a:r>
            <a:r>
              <a:rPr sz="1250" b="0" i="0">
                <a:solidFill>
                  <a:srgbClr val="222222"/>
                </a:solidFill>
              </a:rPr>
              <a:t> at final size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C8102E"/>
                </a:solidFill>
              </a:rPr>
              <a:t>•  </a:t>
            </a:r>
            <a:r>
              <a:rPr sz="1250" b="1" i="0">
                <a:solidFill>
                  <a:srgbClr val="222222"/>
                </a:solidFill>
              </a:rPr>
              <a:t>Editable text</a:t>
            </a:r>
            <a:r>
              <a:rPr sz="1250" b="0" i="0">
                <a:solidFill>
                  <a:srgbClr val="222222"/>
                </a:solidFill>
              </a:rPr>
              <a:t> in Inkscape via fonttype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C8102E"/>
                </a:solidFill>
              </a:rPr>
              <a:t>•  </a:t>
            </a:r>
            <a:r>
              <a:rPr sz="1250" b="1" i="0">
                <a:solidFill>
                  <a:srgbClr val="222222"/>
                </a:solidFill>
              </a:rPr>
              <a:t>Vector</a:t>
            </a:r>
            <a:r>
              <a:rPr sz="1250" b="0" i="0">
                <a:solidFill>
                  <a:srgbClr val="222222"/>
                </a:solidFill>
              </a:rPr>
              <a:t> for editing; </a:t>
            </a:r>
            <a:r>
              <a:rPr sz="1250" b="1" i="0">
                <a:solidFill>
                  <a:srgbClr val="222222"/>
                </a:solidFill>
              </a:rPr>
              <a:t>600 dpi</a:t>
            </a:r>
            <a:r>
              <a:rPr sz="1250" b="0" i="0">
                <a:solidFill>
                  <a:srgbClr val="222222"/>
                </a:solidFill>
              </a:rPr>
              <a:t> 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120640"/>
            <a:ext cx="5029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</a:rPr>
              <a:t>Panel D uses </a:t>
            </a:r>
            <a:r>
              <a:rPr sz="1200" b="0" i="0">
                <a:solidFill>
                  <a:srgbClr val="555555"/>
                </a:solidFill>
                <a:latin typeface="Courier New"/>
              </a:rPr>
              <a:t>sns.heatmap</a:t>
            </a:r>
            <a:r>
              <a:rPr sz="1200" b="0" i="0">
                <a:solidFill>
                  <a:srgbClr val="555555"/>
                </a:solidFill>
              </a:rPr>
              <a:t> with SciPy clustering — figure-level </a:t>
            </a:r>
            <a:r>
              <a:rPr sz="1200" b="0" i="0">
                <a:solidFill>
                  <a:srgbClr val="555555"/>
                </a:solidFill>
                <a:latin typeface="Courier New"/>
              </a:rPr>
              <a:t>clustermap</a:t>
            </a:r>
            <a:r>
              <a:rPr sz="1200" b="0" i="0">
                <a:solidFill>
                  <a:srgbClr val="555555"/>
                </a:solidFill>
              </a:rPr>
              <a:t> can't live inside a layout.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Publication-figure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Labels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every axis labelled with units; gene names in italics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9844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Colour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same meaning in every panel; colour-blind safe; no rainbow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0720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Honesty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show individual points for small n; bars start at zero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0720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Size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built at journal column width; fonts ≥ 6 pt when printed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97679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Files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vector PDF/SVG + 600 dpi PNG; dense layers rasterised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20624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297679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C8102E"/>
                </a:solidFill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15968"/>
            <a:ext cx="32918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1F5F66"/>
                </a:solidFill>
              </a:rPr>
              <a:t>Reproducible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</a:rPr>
              <a:t>code saved; seeds &amp; parameters reported in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77240"/>
          </a:xfrm>
        </p:spPr>
        <p:txBody>
          <a:bodyPr anchor="ctr"/>
          <a:lstStyle/>
          <a:p>
            <a:pPr algn="l"/>
            <a:r>
              <a:rPr sz="3000">
                <a:solidFill>
                  <a:srgbClr val="222222"/>
                </a:solidFill>
                <a:latin typeface="Helvetica"/>
              </a:rPr>
              <a:t>What's next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3931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5F66"/>
                </a:solidFill>
              </a:rPr>
              <a:t>Coming up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393192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Day 2 · </a:t>
            </a:r>
            <a:r>
              <a:rPr sz="1400" b="0" i="0">
                <a:solidFill>
                  <a:srgbClr val="222222"/>
                </a:solidFill>
              </a:rPr>
              <a:t>same plots in R with ggplot2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Day 3 · </a:t>
            </a:r>
            <a:r>
              <a:rPr sz="1400" b="0" i="0">
                <a:solidFill>
                  <a:srgbClr val="222222"/>
                </a:solidFill>
              </a:rPr>
              <a:t>bring your own data — good &amp; bad practices, hands-on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Day 4 · </a:t>
            </a:r>
            <a:r>
              <a:rPr sz="1400" b="0" i="0">
                <a:solidFill>
                  <a:srgbClr val="222222"/>
                </a:solidFill>
              </a:rPr>
              <a:t>bring today's PDF/SVG to Inkscape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C8102E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Day 5 · </a:t>
            </a:r>
            <a:r>
              <a:rPr sz="1400" b="0" i="0">
                <a:solidFill>
                  <a:srgbClr val="222222"/>
                </a:solidFill>
              </a:rPr>
              <a:t>put the final figure into LaTeX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5F66"/>
                </a:solidFill>
              </a:rPr>
              <a:t>Learn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00200"/>
            <a:ext cx="402336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  <a:latin typeface="Courier New"/>
              </a:rPr>
              <a:t>matplotlib.org/cheatsheets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  <a:latin typeface="Courier New"/>
              </a:rPr>
              <a:t>seaborn.pydata.org/tutorial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  <a:latin typeface="Courier New"/>
              </a:rPr>
              <a:t>data-to-viz.com</a:t>
            </a:r>
            <a:r>
              <a:rPr sz="1300" b="0" i="0">
                <a:solidFill>
                  <a:srgbClr val="222222"/>
                </a:solidFill>
              </a:rPr>
              <a:t> — which chart for which data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0" i="0">
                <a:solidFill>
                  <a:srgbClr val="222222"/>
                </a:solidFill>
              </a:rPr>
              <a:t>Rougier et al. 2014 </a:t>
            </a:r>
            <a:r>
              <a:rPr sz="1300" b="0" i="1">
                <a:solidFill>
                  <a:srgbClr val="222222"/>
                </a:solidFill>
              </a:rPr>
              <a:t>Ten simple rules for better figures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8102E"/>
                </a:solidFill>
              </a:rPr>
              <a:t>•  </a:t>
            </a:r>
            <a:r>
              <a:rPr sz="1300" b="0" i="0">
                <a:solidFill>
                  <a:srgbClr val="222222"/>
                </a:solidFill>
              </a:rPr>
              <a:t>Crameri et al. 2020 </a:t>
            </a:r>
            <a:r>
              <a:rPr sz="1300" b="0" i="1">
                <a:solidFill>
                  <a:srgbClr val="222222"/>
                </a:solidFill>
              </a:rPr>
              <a:t>The misuse of colour in science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8183879" cy="1143000"/>
          </a:xfrm>
          <a:prstGeom prst="roundRect">
            <a:avLst>
              <a:gd name="adj" fmla="val 8000"/>
            </a:avLst>
          </a:prstGeom>
          <a:solidFill>
            <a:srgbClr val="FDEEEF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786384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</a:rPr>
              <a:t>Homework (5 min): </a:t>
            </a:r>
            <a:r>
              <a:rPr sz="1400" b="0" i="0">
                <a:solidFill>
                  <a:srgbClr val="222222"/>
                </a:solidFill>
              </a:rPr>
              <a:t>keep your exported </a:t>
            </a:r>
            <a:r>
              <a:rPr sz="1400" b="1" i="0">
                <a:solidFill>
                  <a:srgbClr val="222222"/>
                </a:solidFill>
                <a:latin typeface="Courier New"/>
              </a:rPr>
              <a:t>Figure1_cornea_CoV2.pdf / .svg</a:t>
            </a:r>
            <a:r>
              <a:rPr sz="1400" b="0" i="0">
                <a:solidFill>
                  <a:srgbClr val="222222"/>
                </a:solidFill>
              </a:rPr>
              <a:t> — you will polish it in Inkscape on Thursday. Think about which of your own datasets you'd like to bring on Wednesday.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55D8-6138-FF10-C50B-7F061CFC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Feedback?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25B-3A69-93BC-3629-FB0029949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235577"/>
            <a:ext cx="7886700" cy="546100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>
                <a:hlinkClick r:id="rId2"/>
              </a:rPr>
              <a:t>https://tinyurl.com/QLS-MiCM-Feedback</a:t>
            </a:r>
            <a:endParaRPr lang="en-CA" dirty="0"/>
          </a:p>
        </p:txBody>
      </p:sp>
      <p:pic>
        <p:nvPicPr>
          <p:cNvPr id="4" name="Picture 3" descr="feedback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900" y="1993900"/>
            <a:ext cx="2870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531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4784</TotalTime>
  <Words>1928</Words>
  <Application>Microsoft Macintosh PowerPoint</Application>
  <PresentationFormat>On-screen Show (4:3)</PresentationFormat>
  <Paragraphs>245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Courier New</vt:lpstr>
      <vt:lpstr>Helvetica</vt:lpstr>
      <vt:lpstr>Helvetica Light</vt:lpstr>
      <vt:lpstr>Open Sans Light</vt:lpstr>
      <vt:lpstr>Thème Office</vt:lpstr>
      <vt:lpstr>Data Visualization in Python</vt:lpstr>
      <vt:lpstr>PowerPoint Presentation</vt:lpstr>
      <vt:lpstr>PowerPoint Presentation</vt:lpstr>
      <vt:lpstr>The Code to Manuscript bootcamp</vt:lpstr>
      <vt:lpstr>Learning outcomes</vt:lpstr>
      <vt:lpstr>Outline</vt:lpstr>
      <vt:lpstr>Today's dataset: SARS-CoV-2 &amp; the eye</vt:lpstr>
      <vt:lpstr>Interactive workshop — open the notebook!</vt:lpstr>
      <vt:lpstr>Anatomy of a Matplotlib figure</vt:lpstr>
      <vt:lpstr>Seaborn speaks tidy data</vt:lpstr>
      <vt:lpstr>With small n, show the points</vt:lpstr>
      <vt:lpstr>Relationships: volcano &amp; MA plots</vt:lpstr>
      <vt:lpstr>Heatmaps: choose the colour map on purpose</vt:lpstr>
      <vt:lpstr>Dimensionality reduction at a glance</vt:lpstr>
      <vt:lpstr>Multi-panel figures &amp; export</vt:lpstr>
      <vt:lpstr>Publication-figure checklist</vt:lpstr>
      <vt:lpstr>What's next &amp; resources</vt:lpstr>
      <vt:lpstr>Feedback?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Zahra Tavakol Hamedani</cp:lastModifiedBy>
  <cp:revision>188</cp:revision>
  <dcterms:created xsi:type="dcterms:W3CDTF">2019-07-29T14:54:16Z</dcterms:created>
  <dcterms:modified xsi:type="dcterms:W3CDTF">2026-10-19T14:49:49Z</dcterms:modified>
</cp:coreProperties>
</file>