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6"/>
  </p:notesMasterIdLst>
  <p:handoutMasterIdLst>
    <p:handoutMasterId r:id="rId27"/>
  </p:handoutMasterIdLst>
  <p:sldIdLst>
    <p:sldId id="316" r:id="rId2"/>
    <p:sldId id="321" r:id="rId3"/>
    <p:sldId id="338" r:id="rId4"/>
    <p:sldId id="397" r:id="rId12"/>
    <p:sldId id="398" r:id="rId13"/>
    <p:sldId id="399" r:id="rId14"/>
    <p:sldId id="400" r:id="rId15"/>
    <p:sldId id="401" r:id="rId16"/>
    <p:sldId id="402" r:id="rId17"/>
    <p:sldId id="403" r:id="rId18"/>
    <p:sldId id="404" r:id="rId19"/>
    <p:sldId id="405" r:id="rId20"/>
    <p:sldId id="406" r:id="rId21"/>
    <p:sldId id="407" r:id="rId22"/>
    <p:sldId id="408" r:id="rId23"/>
    <p:sldId id="409" r:id="rId24"/>
    <p:sldId id="410" r:id="rId11"/>
    <p:sldId id="396" r:id="rId25"/>
  </p:sldIdLst>
  <p:sldSz cx="9144000" cy="6858000" type="screen4x3"/>
  <p:notesSz cx="6858000" cy="9144000"/>
  <p:defaultTextStyle>
    <a:defPPr>
      <a:defRPr lang="fr-FR"/>
    </a:defPPr>
    <a:lvl1pPr marL="0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1pPr>
    <a:lvl2pPr marL="45711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2pPr>
    <a:lvl3pPr marL="91422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3pPr>
    <a:lvl4pPr marL="1371341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4pPr>
    <a:lvl5pPr marL="1828453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5pPr>
    <a:lvl6pPr marL="2285566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6pPr>
    <a:lvl7pPr marL="2742679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7pPr>
    <a:lvl8pPr marL="3199794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8pPr>
    <a:lvl9pPr marL="3656907" algn="l" defTabSz="914226" rtl="0" eaLnBrk="1" latinLnBrk="0" hangingPunct="1">
      <a:defRPr sz="18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A89E"/>
    <a:srgbClr val="72B0AF"/>
    <a:srgbClr val="69B0A0"/>
    <a:srgbClr val="58B6C0"/>
    <a:srgbClr val="3494BA"/>
    <a:srgbClr val="FF91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39" autoAdjust="0"/>
    <p:restoredTop sz="94638" autoAdjust="0"/>
  </p:normalViewPr>
  <p:slideViewPr>
    <p:cSldViewPr snapToGrid="0">
      <p:cViewPr varScale="1">
        <p:scale>
          <a:sx n="118" d="100"/>
          <a:sy n="118" d="100"/>
        </p:scale>
        <p:origin x="1360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76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11" Type="http://schemas.openxmlformats.org/officeDocument/2006/relationships/slide" Target="slides/slide18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E0E883B-34CD-C662-4894-9F17ACB17F6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E3C337-8F20-DC0E-F086-75F80A1A91E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F74AA5-8A3E-4FDB-94BB-BF4B31CB4E38}" type="datetimeFigureOut">
              <a:rPr lang="en-CA" smtClean="0"/>
              <a:t>2026-06-16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E2B551-A114-1711-7660-206556B020D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960C49-B3C8-81BE-2872-8D4647B4433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A9F605-ADAB-47CB-BC74-76DC0A949AA8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3588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7E5156-1B5D-054E-B5B2-E1B1BA160252}" type="datetimeFigureOut">
              <a:rPr lang="fr-FR" smtClean="0"/>
              <a:t>16/06/2026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fr-FR"/>
              <a:t>Modifier les styles du texte du masque
Deuxième niveau
Troisième niveau
Quatrième niveau
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CBD60B-517C-4242-AE46-E1BD2D08654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7014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694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3884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082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776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4705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647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8590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5532" algn="l" defTabSz="9138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Welcome. Day 1 of the 5-day Code to Manuscript bootcamp (QLS-MiCM, CDSI, D2R, C3G). Introduce yourself and the facilitator. The session is hands-on: almost everything happens in the Colab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99971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40370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CBD60B-517C-4242-AE46-E1BD2D086542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8882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 today in the context of the whole week. Emphasise that the data and the exported files carry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objectives. Prerequisite: basic Python syntax and pandas DataFrames.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Roughly 2 hours. If time is short, Exercise 5 (t-SNE perplexity) can be skipped; Module 6 should not be skipped.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Small and fast: 18 samples, ~13k expressed genes. All processing is pre-computed by Exercises/data_scripts/prepare_data.py so we can focus on plotting. Biology hook: infected cornea shows an NF-kB / inflammatory response (SOD2, C3, IL6, TNFAIP3).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everyone 3–4 minutes to open Colab and run the setup cell. Local Jupyter works too: clone the repo and run from Exercises/scripts.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idea of the day. Every element of a plot is an object you can modify. Always use fig, ax = plt.subplots(); this pays off when building multi-panel figures in Module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Wide = how data are usually stored; long = how Seaborn wants them: one row per observation, columns map to x, y, hue, 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Good/bad practice preview for Day 3. Weissgerber et al. 2015 (PLoS Biol) 'Beyond bar and line graphs' is a good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Cornea CoV2 vs mock. Top genes are NF-kB targets (SOD2, C3, TNFAIP3, CXCL1) — matches the paper's inflammatory signature.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Rainbow/jet is not perceptually uniform and is unreadable for colour-blind readers (Crameri et al. 2020, Nat Commun).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maths light. Point out that tissue dominates PC1/PC2; the notebook's within-tissue PCA shows infection on PC1. Message: PCA is the default for bulk data; t-SNE/UMAP are for many points (single cell) and are sensitive to parameters — Exercise 5 shows this. Always set and report the random seed.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Colab, files in figures/ vanish when the session ends: run the download cell. Never screenshot a plot for a paper. Keep the exported PDF/SVG: participants bring it to Day 4 (Inkscape).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checklist is also at the end of the notebook. We'll build on it on Day 3 (good vs bad practices).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Remind participants to fill the Day 3 registration question about their data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3" y="6620940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11"/>
            <a:ext cx="9144000" cy="11345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63281" y="60798"/>
            <a:ext cx="4197350" cy="1012958"/>
          </a:xfrm>
          <a:prstGeom prst="rect">
            <a:avLst/>
          </a:prstGeom>
        </p:spPr>
      </p:pic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F469381-9221-664C-A297-50EE4CAEE00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42372" y="1454228"/>
            <a:ext cx="8585105" cy="4383864"/>
          </a:xfrm>
        </p:spPr>
        <p:txBody>
          <a:bodyPr/>
          <a:lstStyle/>
          <a:p>
            <a:r>
              <a:rPr lang="fr-FR"/>
              <a:t>Modifier les styles du texte du masque
Deuxième niveau
Troisième niveau
Quatrième niveau
Cinquième niveau</a:t>
            </a:r>
            <a:endParaRPr lang="en-CA"/>
          </a:p>
        </p:txBody>
      </p:sp>
      <p:pic>
        <p:nvPicPr>
          <p:cNvPr id="4" name="Picture 3" descr="A close-up of a logo&#10;&#10;Description automatically generated">
            <a:extLst>
              <a:ext uri="{FF2B5EF4-FFF2-40B4-BE49-F238E27FC236}">
                <a16:creationId xmlns:a16="http://schemas.microsoft.com/office/drawing/2014/main" id="{DDB01B34-4658-0BF9-DEB6-F09620837D3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838991" y="5996355"/>
            <a:ext cx="4305009" cy="727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94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8C014499-7A01-1C4B-B8B6-23CF018A7AFA}"/>
              </a:ext>
            </a:extLst>
          </p:cNvPr>
          <p:cNvSpPr txBox="1"/>
          <p:nvPr userDrawn="1"/>
        </p:nvSpPr>
        <p:spPr>
          <a:xfrm>
            <a:off x="8305801" y="6620932"/>
            <a:ext cx="184731" cy="2343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sz="923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26714F2-9487-9A49-A920-C9C4DB6F97C5}"/>
              </a:ext>
            </a:extLst>
          </p:cNvPr>
          <p:cNvSpPr/>
          <p:nvPr userDrawn="1"/>
        </p:nvSpPr>
        <p:spPr>
          <a:xfrm>
            <a:off x="0" y="5"/>
            <a:ext cx="9144000" cy="89967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923"/>
          </a:p>
        </p:txBody>
      </p:sp>
      <p:pic>
        <p:nvPicPr>
          <p:cNvPr id="14" name="Espace réservé du contenu 5">
            <a:extLst>
              <a:ext uri="{FF2B5EF4-FFF2-40B4-BE49-F238E27FC236}">
                <a16:creationId xmlns:a16="http://schemas.microsoft.com/office/drawing/2014/main" id="{4590415E-2F4F-B34C-975F-7509179742F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93431" y="5"/>
            <a:ext cx="3727939" cy="899674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2401445-DB0B-D44D-B605-7A88A3BCCA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41"/>
            <a:ext cx="7886700" cy="2852738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07067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8290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09953"/>
            <a:ext cx="7886700" cy="113347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62341" y="2243015"/>
            <a:ext cx="7886700" cy="3320082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088" indent="0">
              <a:buNone/>
              <a:defRPr sz="2002">
                <a:solidFill>
                  <a:schemeClr val="tx1">
                    <a:tint val="75000"/>
                  </a:schemeClr>
                </a:solidFill>
              </a:defRPr>
            </a:lvl2pPr>
            <a:lvl3pPr marL="91417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25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4pPr>
            <a:lvl5pPr marL="1828343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5pPr>
            <a:lvl6pPr marL="2285430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6pPr>
            <a:lvl7pPr marL="274251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7pPr>
            <a:lvl8pPr marL="3199598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8pPr>
            <a:lvl9pPr marL="3656685" indent="0">
              <a:buNone/>
              <a:defRPr sz="159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dirty="0"/>
              <a:t>Modifier les styles du texte du masque
Deuxième niveau
Troisième niveau
Quatrième niveau
Cinquième niveau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1720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7"/>
            <a:ext cx="3886200" cy="4351335"/>
          </a:xfrm>
        </p:spPr>
        <p:txBody>
          <a:bodyPr/>
          <a:lstStyle/>
          <a:p>
            <a:pPr lvl="0"/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7"/>
            <a:ext cx="3886200" cy="4351335"/>
          </a:xfrm>
        </p:spPr>
        <p:txBody>
          <a:bodyPr/>
          <a:lstStyle/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49080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175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0274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fr-FR"/>
              <a:t>Modifiez le style du titre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31"/>
            <a:ext cx="4629150" cy="4873628"/>
          </a:xfrm>
        </p:spPr>
        <p:txBody>
          <a:bodyPr anchor="t"/>
          <a:lstStyle>
            <a:lvl1pPr marL="0" indent="0">
              <a:buNone/>
              <a:defRPr sz="3202"/>
            </a:lvl1pPr>
            <a:lvl2pPr marL="457088" indent="0">
              <a:buNone/>
              <a:defRPr sz="2798"/>
            </a:lvl2pPr>
            <a:lvl3pPr marL="914175" indent="0">
              <a:buNone/>
              <a:defRPr sz="2400"/>
            </a:lvl3pPr>
            <a:lvl4pPr marL="1371255" indent="0">
              <a:buNone/>
              <a:defRPr sz="2002"/>
            </a:lvl4pPr>
            <a:lvl5pPr marL="1828343" indent="0">
              <a:buNone/>
              <a:defRPr sz="2002"/>
            </a:lvl5pPr>
            <a:lvl6pPr marL="2285430" indent="0">
              <a:buNone/>
              <a:defRPr sz="2002"/>
            </a:lvl6pPr>
            <a:lvl7pPr marL="2742518" indent="0">
              <a:buNone/>
              <a:defRPr sz="2002"/>
            </a:lvl7pPr>
            <a:lvl8pPr marL="3199598" indent="0">
              <a:buNone/>
              <a:defRPr sz="2002"/>
            </a:lvl8pPr>
            <a:lvl9pPr marL="3656685" indent="0">
              <a:buNone/>
              <a:defRPr sz="2002"/>
            </a:lvl9pPr>
          </a:lstStyle>
          <a:p>
            <a:r>
              <a:rPr lang="fr-FR"/>
              <a:t>Cliquez sur l'icône pour ajouter une image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90"/>
          </a:xfrm>
        </p:spPr>
        <p:txBody>
          <a:bodyPr/>
          <a:lstStyle>
            <a:lvl1pPr marL="0" indent="0">
              <a:buNone/>
              <a:defRPr sz="1598"/>
            </a:lvl1pPr>
            <a:lvl2pPr marL="457088" indent="0">
              <a:buNone/>
              <a:defRPr sz="1403"/>
            </a:lvl2pPr>
            <a:lvl3pPr marL="914175" indent="0">
              <a:buNone/>
              <a:defRPr sz="1200"/>
            </a:lvl3pPr>
            <a:lvl4pPr marL="1371255" indent="0">
              <a:buNone/>
              <a:defRPr sz="998"/>
            </a:lvl4pPr>
            <a:lvl5pPr marL="1828343" indent="0">
              <a:buNone/>
              <a:defRPr sz="998"/>
            </a:lvl5pPr>
            <a:lvl6pPr marL="2285430" indent="0">
              <a:buNone/>
              <a:defRPr sz="998"/>
            </a:lvl6pPr>
            <a:lvl7pPr marL="2742518" indent="0">
              <a:buNone/>
              <a:defRPr sz="998"/>
            </a:lvl7pPr>
            <a:lvl8pPr marL="3199598" indent="0">
              <a:buNone/>
              <a:defRPr sz="998"/>
            </a:lvl8pPr>
            <a:lvl9pPr marL="3656685" indent="0">
              <a:buNone/>
              <a:defRPr sz="998"/>
            </a:lvl9pPr>
          </a:lstStyle>
          <a:p>
            <a:pPr lvl="0"/>
            <a:r>
              <a:rPr lang="fr-FR"/>
              <a:t>Modifier les styles du texte du masque
Deuxième niveau
Troisième niveau
Quatrième niveau
Cinquième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93311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Relationship Id="rId10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3"/>
            <a:ext cx="7886700" cy="13255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038216"/>
            <a:ext cx="7886700" cy="3666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
Deuxième niveau
Troisième niveau
Quatrième niveau
Cinquième niveau</a:t>
            </a:r>
            <a:endParaRPr lang="en-US" dirty="0"/>
          </a:p>
        </p:txBody>
      </p:sp>
      <p:grpSp>
        <p:nvGrpSpPr>
          <p:cNvPr id="14" name="Group 11">
            <a:extLst>
              <a:ext uri="{FF2B5EF4-FFF2-40B4-BE49-F238E27FC236}">
                <a16:creationId xmlns:a16="http://schemas.microsoft.com/office/drawing/2014/main" id="{8ADF8589-063A-1546-8085-07B315CCB283}"/>
              </a:ext>
            </a:extLst>
          </p:cNvPr>
          <p:cNvGrpSpPr>
            <a:grpSpLocks/>
          </p:cNvGrpSpPr>
          <p:nvPr userDrawn="1"/>
        </p:nvGrpSpPr>
        <p:grpSpPr bwMode="auto">
          <a:xfrm>
            <a:off x="-2150" y="6790458"/>
            <a:ext cx="9146150" cy="121246"/>
            <a:chOff x="606161" y="2106824"/>
            <a:chExt cx="6205940" cy="1241188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7CD4AE55-E3E4-8E48-A531-035261AD147D}"/>
                </a:ext>
              </a:extLst>
            </p:cNvPr>
            <p:cNvSpPr/>
            <p:nvPr userDrawn="1"/>
          </p:nvSpPr>
          <p:spPr>
            <a:xfrm>
              <a:off x="606161" y="2106824"/>
              <a:ext cx="1241028" cy="124118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753BF61-1322-C642-81B1-2BEA6A9D7516}"/>
                </a:ext>
              </a:extLst>
            </p:cNvPr>
            <p:cNvSpPr/>
            <p:nvPr userDrawn="1"/>
          </p:nvSpPr>
          <p:spPr>
            <a:xfrm>
              <a:off x="1847189" y="2106824"/>
              <a:ext cx="1241429" cy="1241188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505D8262-7348-B74A-B1E5-C429BF3920A3}"/>
                </a:ext>
              </a:extLst>
            </p:cNvPr>
            <p:cNvSpPr/>
            <p:nvPr userDrawn="1"/>
          </p:nvSpPr>
          <p:spPr>
            <a:xfrm>
              <a:off x="3088617" y="2106824"/>
              <a:ext cx="1241027" cy="1241188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AE6F6EB-C764-0142-9907-8F053728961D}"/>
                </a:ext>
              </a:extLst>
            </p:cNvPr>
            <p:cNvSpPr/>
            <p:nvPr userDrawn="1"/>
          </p:nvSpPr>
          <p:spPr>
            <a:xfrm>
              <a:off x="4329645" y="2106824"/>
              <a:ext cx="1241429" cy="124118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94EFFE0-7781-6F4A-8329-190CB533253E}"/>
                </a:ext>
              </a:extLst>
            </p:cNvPr>
            <p:cNvSpPr/>
            <p:nvPr userDrawn="1"/>
          </p:nvSpPr>
          <p:spPr>
            <a:xfrm>
              <a:off x="5571073" y="2106824"/>
              <a:ext cx="1241028" cy="1241188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456353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923">
                <a:latin typeface="Open Sans Light"/>
              </a:endParaRPr>
            </a:p>
          </p:txBody>
        </p:sp>
      </p:grpSp>
      <p:pic>
        <p:nvPicPr>
          <p:cNvPr id="6" name="Picture 5" descr="A close-up of a logo&#10;&#10;Description automatically generated">
            <a:extLst>
              <a:ext uri="{FF2B5EF4-FFF2-40B4-BE49-F238E27FC236}">
                <a16:creationId xmlns:a16="http://schemas.microsoft.com/office/drawing/2014/main" id="{25746FDC-B172-848D-40AE-03399FB3A205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4857750" y="6066558"/>
            <a:ext cx="4286250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374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62" r:id="rId3"/>
    <p:sldLayoutId id="2147483663" r:id="rId4"/>
    <p:sldLayoutId id="2147483664" r:id="rId5"/>
    <p:sldLayoutId id="2147483666" r:id="rId6"/>
    <p:sldLayoutId id="2147483667" r:id="rId7"/>
    <p:sldLayoutId id="2147483669" r:id="rId8"/>
  </p:sldLayoutIdLst>
  <p:hf sldNum="0" hdr="0" ftr="0" dt="0"/>
  <p:txStyles>
    <p:titleStyle>
      <a:lvl1pPr algn="l" defTabSz="914175" rtl="0" eaLnBrk="1" latinLnBrk="0" hangingPunct="1">
        <a:lnSpc>
          <a:spcPct val="90000"/>
        </a:lnSpc>
        <a:spcBef>
          <a:spcPct val="0"/>
        </a:spcBef>
        <a:buNone/>
        <a:defRPr sz="44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40" indent="-228540" algn="l" defTabSz="914175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8" kern="1200">
          <a:solidFill>
            <a:schemeClr val="tx1"/>
          </a:solidFill>
          <a:latin typeface="+mn-lt"/>
          <a:ea typeface="+mn-ea"/>
          <a:cs typeface="+mn-cs"/>
        </a:defRPr>
      </a:lvl1pPr>
      <a:lvl2pPr marL="68562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71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2002" kern="1200">
          <a:solidFill>
            <a:schemeClr val="tx1"/>
          </a:solidFill>
          <a:latin typeface="+mn-lt"/>
          <a:ea typeface="+mn-ea"/>
          <a:cs typeface="+mn-cs"/>
        </a:defRPr>
      </a:lvl3pPr>
      <a:lvl4pPr marL="159980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6883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3970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8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5" indent="-228540" algn="l" defTabSz="914175" rtl="0" eaLnBrk="1" latinLnBrk="0" hangingPunct="1">
        <a:lnSpc>
          <a:spcPct val="90000"/>
        </a:lnSpc>
        <a:spcBef>
          <a:spcPts val="503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30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598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5" algn="l" defTabSz="91417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eg"/><Relationship Id="rId4" Type="http://schemas.openxmlformats.org/officeDocument/2006/relationships/image" Target="../media/image4.png"/><Relationship Id="rId5" Type="http://schemas.openxmlformats.org/officeDocument/2006/relationships/hyperlink" Target="mailto:workshop-micm@mcgill.ca" TargetMode="External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www.mcgill.ca/micm/training/workshops-series" TargetMode="External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tinyurl.com/QLS-MiCM-Feedback" TargetMode="External"/><Relationship Id="rId3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hyperlink" Target="https://colab.research.google.com/github/QLS-MiCM/DataVisualizationInPython/blob/main/Exercises/scripts/DataVisualizationInPython.ipynb" TargetMode="External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45C165F-BC2D-0A42-B582-A27AE4DBB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0" y="2194560"/>
            <a:ext cx="8046720" cy="914400"/>
          </a:xfrm>
        </p:spPr>
        <p:txBody>
          <a:bodyPr>
            <a:normAutofit/>
          </a:bodyPr>
          <a:lstStyle/>
          <a:p>
            <a:pPr algn="ctr"/>
            <a:r>
              <a:rPr lang="en-CA" dirty="0" sz="4000">
                <a:latin typeface="Helvetica"/>
                <a:cs typeface="Helvetica"/>
              </a:rPr>
              <a:t>Data Visualization in Python</a:t>
            </a:r>
            <a:endParaRPr lang="en-CA" dirty="0">
              <a:latin typeface="Helvetica" pitchFamily="2" charset="0"/>
              <a:cs typeface="Helvetic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513291-C55D-7CB6-6FB8-00826C7B6F25}"/>
              </a:ext>
            </a:extLst>
          </p:cNvPr>
          <p:cNvSpPr txBox="1"/>
          <p:nvPr/>
        </p:nvSpPr>
        <p:spPr>
          <a:xfrm>
            <a:off x="91440" y="5074920"/>
            <a:ext cx="4480560" cy="9233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CA" sz="1500" dirty="0">
                <a:latin typeface="Helvetica Light"/>
              </a:rPr>
              <a:t>Instructor: Zahra Tavakol Hamedani</a:t>
            </a:r>
          </a:p>
          <a:p>
            <a:r>
              <a:rPr lang="en-CA" sz="1500" dirty="0">
                <a:latin typeface="Helvetica Light"/>
              </a:rPr>
              <a:t>Facilitator: Sameena Karsan</a:t>
            </a:r>
          </a:p>
          <a:p>
            <a:r>
              <a:rPr lang="en-CA" sz="1500">
                <a:latin typeface="Helvetica Light"/>
              </a:rPr>
              <a:t>October 26, 2026 · McIntyre 1027</a:t>
            </a:r>
            <a:endParaRPr lang="en-CA" dirty="0">
              <a:latin typeface="Helvetica Ligh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3154680"/>
            <a:ext cx="80467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 i="0">
                <a:solidFill>
                  <a:srgbClr val="555555"/>
                </a:solidFill>
                <a:latin typeface="Helvetica Light"/>
              </a:rPr>
              <a:t>From RNA-seq counts to publication-ready figures with Matplotlib &amp; Seaborn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8046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C8102E"/>
                </a:solidFill>
              </a:rPr>
              <a:t>CODE TO MANUSCRIPT BOOTCAMP  ·  DAY 1</a:t>
            </a:r>
          </a:p>
        </p:txBody>
      </p:sp>
    </p:spTree>
    <p:extLst>
      <p:ext uri="{BB962C8B-B14F-4D97-AF65-F5344CB8AC3E}">
        <p14:creationId xmlns:p14="http://schemas.microsoft.com/office/powerpoint/2010/main" val="2389275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E12D43-9137-DB7C-570B-E48AB23088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4887" y="5287892"/>
            <a:ext cx="3224152" cy="64633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Location: 550 Sherbrooke Street, Montreal, Quebec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92A9C4-6F5B-9A18-012E-5626D25E3582}"/>
              </a:ext>
            </a:extLst>
          </p:cNvPr>
          <p:cNvSpPr txBox="1"/>
          <p:nvPr/>
        </p:nvSpPr>
        <p:spPr>
          <a:xfrm>
            <a:off x="820547" y="1461827"/>
            <a:ext cx="750290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dirty="0">
                <a:latin typeface="Helvetica" pitchFamily="2" charset="0"/>
              </a:rPr>
              <a:t>QLS-MiCM mission statement: d</a:t>
            </a:r>
            <a:r>
              <a:rPr lang="en-CA" sz="1800" b="0" i="0" dirty="0">
                <a:solidFill>
                  <a:srgbClr val="000000"/>
                </a:solidFill>
                <a:effectLst/>
                <a:latin typeface="Helvetica" pitchFamily="2" charset="0"/>
                <a:cs typeface="Calibri"/>
              </a:rPr>
              <a:t>eliver quality workshops designed to help biomedical researchers develop the skills they need to succeed.</a:t>
            </a:r>
            <a:endParaRPr lang="en-CA" sz="1800" dirty="0">
              <a:latin typeface="Helvetica" pitchFamily="2" charset="0"/>
              <a:cs typeface="Calibri"/>
            </a:endParaRPr>
          </a:p>
        </p:txBody>
      </p:sp>
      <p:pic>
        <p:nvPicPr>
          <p:cNvPr id="10" name="Picture 9" descr="A logo with a letter m&#10;&#10;Description automatically generated">
            <a:extLst>
              <a:ext uri="{FF2B5EF4-FFF2-40B4-BE49-F238E27FC236}">
                <a16:creationId xmlns:a16="http://schemas.microsoft.com/office/drawing/2014/main" id="{E494228A-9E5D-1800-FDEC-760556611B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5825" y="208818"/>
            <a:ext cx="3732349" cy="900740"/>
          </a:xfrm>
          <a:prstGeom prst="rect">
            <a:avLst/>
          </a:prstGeom>
        </p:spPr>
      </p:pic>
      <p:pic>
        <p:nvPicPr>
          <p:cNvPr id="12" name="Picture 11" descr="A qr code with black squares&#10;&#10;Description automatically generated">
            <a:extLst>
              <a:ext uri="{FF2B5EF4-FFF2-40B4-BE49-F238E27FC236}">
                <a16:creationId xmlns:a16="http://schemas.microsoft.com/office/drawing/2014/main" id="{333BAB40-358F-BE60-7494-578A1971B3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8580" y="2808275"/>
            <a:ext cx="2203814" cy="220381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74C1E59-2F37-F73C-4DFA-8971D19A54AE}"/>
              </a:ext>
            </a:extLst>
          </p:cNvPr>
          <p:cNvSpPr txBox="1"/>
          <p:nvPr/>
        </p:nvSpPr>
        <p:spPr>
          <a:xfrm>
            <a:off x="4373913" y="5288330"/>
            <a:ext cx="4632294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Scan the QR code to sign up </a:t>
            </a:r>
          </a:p>
          <a:p>
            <a:pPr algn="ctr"/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for our </a:t>
            </a:r>
            <a:r>
              <a:rPr lang="en-CA" sz="1800" b="1" dirty="0">
                <a:latin typeface="Helvetica" panose="020B0604020202020204" pitchFamily="34" charset="0"/>
                <a:cs typeface="Helvetica" panose="020B0604020202020204" pitchFamily="34" charset="0"/>
              </a:rPr>
              <a:t>mailing list</a:t>
            </a:r>
            <a:endParaRPr lang="en-CA" sz="18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0D0C58-4777-B836-81EE-F027A53CFFAF}"/>
              </a:ext>
            </a:extLst>
          </p:cNvPr>
          <p:cNvSpPr txBox="1"/>
          <p:nvPr/>
        </p:nvSpPr>
        <p:spPr>
          <a:xfrm>
            <a:off x="60708" y="6210464"/>
            <a:ext cx="45968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Contact: </a:t>
            </a:r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  <a:hlinkClick r:id="rId5"/>
              </a:rPr>
              <a:t>workshop-micm@mcgill.ca</a:t>
            </a:r>
            <a:r>
              <a:rPr lang="en-CA" sz="1800" dirty="0">
                <a:latin typeface="Helvetica" panose="020B0604020202020204" pitchFamily="34" charset="0"/>
                <a:cs typeface="Helvetica" panose="020B0604020202020204" pitchFamily="34" charset="0"/>
              </a:rPr>
              <a:t> </a:t>
            </a:r>
          </a:p>
        </p:txBody>
      </p:sp>
      <p:pic>
        <p:nvPicPr>
          <p:cNvPr id="2" name="Picture 1" descr="A map of a city&#10;&#10;Description automatically generated">
            <a:extLst>
              <a:ext uri="{FF2B5EF4-FFF2-40B4-BE49-F238E27FC236}">
                <a16:creationId xmlns:a16="http://schemas.microsoft.com/office/drawing/2014/main" id="{0D7302FE-4674-2672-DBA9-50C4E86C9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4887" y="2649379"/>
            <a:ext cx="2868491" cy="235653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24269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F2376-9E04-ED70-502E-4CB0F87AB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16AE1CEB-BA97-61DD-841E-10CAC5F24A90}"/>
              </a:ext>
            </a:extLst>
          </p:cNvPr>
          <p:cNvSpPr txBox="1"/>
          <p:nvPr/>
        </p:nvSpPr>
        <p:spPr>
          <a:xfrm>
            <a:off x="1647890" y="5514116"/>
            <a:ext cx="5848220" cy="369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Helvetica" pitchFamily="2" charset="0"/>
                <a:hlinkClick r:id="rId3"/>
              </a:rPr>
              <a:t>https://www.mcgill.ca/micm/training/workshops-series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D96498-6607-422D-4649-CD2575F6D567}"/>
              </a:ext>
            </a:extLst>
          </p:cNvPr>
          <p:cNvSpPr txBox="1"/>
          <p:nvPr/>
        </p:nvSpPr>
        <p:spPr>
          <a:xfrm>
            <a:off x="2597550" y="1295601"/>
            <a:ext cx="420860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latin typeface="Helvetica" panose="020B0604020202020204" pitchFamily="34" charset="0"/>
                <a:cs typeface="Helvetica" panose="020B0604020202020204" pitchFamily="34" charset="0"/>
              </a:rPr>
              <a:t>Workshop Series</a:t>
            </a:r>
            <a:endParaRPr lang="en-US" sz="4000" dirty="0">
              <a:latin typeface="Helvetica" panose="020B0604020202020204" pitchFamily="34" charset="0"/>
              <a:cs typeface="Helvetica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C30577-92C0-D4A6-33C8-B5AB0C9DEF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499" y="1941932"/>
            <a:ext cx="3429001" cy="342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51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455D8-6138-FF10-C50B-7F061CFCC3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Feedback?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6925B-3A69-93BC-3629-FB00299494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5235577"/>
            <a:ext cx="7886700" cy="546100"/>
          </a:xfrm>
        </p:spPr>
        <p:txBody>
          <a:bodyPr/>
          <a:lstStyle/>
          <a:p>
            <a:pPr marL="0" indent="0" algn="ctr">
              <a:buNone/>
            </a:pPr>
            <a:r>
              <a:rPr lang="en-CA" dirty="0">
                <a:hlinkClick r:id="rId2"/>
              </a:rPr>
              <a:t>https://tinyurl.com/QLS-MiCM-Feedback</a:t>
            </a:r>
            <a:endParaRPr lang="en-CA" dirty="0"/>
          </a:p>
        </p:txBody>
      </p:sp>
      <p:pic>
        <p:nvPicPr>
          <p:cNvPr id="4" name="Picture 3" descr="feedback-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6900" y="1993900"/>
            <a:ext cx="2870200" cy="287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553134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The Code to Manuscript bootcamp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417320"/>
            <a:ext cx="1517904" cy="2331720"/>
          </a:xfrm>
          <a:prstGeom prst="roundRect">
            <a:avLst>
              <a:gd name="adj" fmla="val 8000"/>
            </a:avLst>
          </a:prstGeom>
          <a:solidFill>
            <a:srgbClr val="FDEEEF"/>
          </a:solidFill>
          <a:ln w="31750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11480" y="1508760"/>
            <a:ext cx="1517904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8102E"/>
                </a:solidFill>
              </a:rPr>
              <a:t>Day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874519"/>
            <a:ext cx="151790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Mon Oct 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40280"/>
            <a:ext cx="1426463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</a:rPr>
              <a:t>Data visualization in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200400"/>
            <a:ext cx="151790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55555"/>
                </a:solidFill>
              </a:rPr>
              <a:t>Matplotlib · Seaborn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38527" y="2487168"/>
            <a:ext cx="137160" cy="201168"/>
          </a:xfrm>
          <a:prstGeom prst="rightArrow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84831" y="1417320"/>
            <a:ext cx="1517904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084831" y="1508760"/>
            <a:ext cx="1517904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5F66"/>
                </a:solidFill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4831" y="1874519"/>
            <a:ext cx="151790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Tue Oct 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0551" y="2240280"/>
            <a:ext cx="1426463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</a:rPr>
              <a:t>Data visualization in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4831" y="3200400"/>
            <a:ext cx="151790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55555"/>
                </a:solidFill>
              </a:rPr>
              <a:t>ggplot2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611879" y="2487168"/>
            <a:ext cx="137160" cy="201168"/>
          </a:xfrm>
          <a:prstGeom prst="rightArrow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58183" y="1417320"/>
            <a:ext cx="1517904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758183" y="1508760"/>
            <a:ext cx="1517904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5F66"/>
                </a:solidFill>
              </a:rPr>
              <a:t>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8183" y="1874519"/>
            <a:ext cx="151790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Wed Oct 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03903" y="2240280"/>
            <a:ext cx="1426463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</a:rPr>
              <a:t>Bring your own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58183" y="3200400"/>
            <a:ext cx="151790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55555"/>
                </a:solidFill>
              </a:rPr>
              <a:t>Python or 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285231" y="2487168"/>
            <a:ext cx="137160" cy="201168"/>
          </a:xfrm>
          <a:prstGeom prst="rightArrow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31536" y="1417320"/>
            <a:ext cx="1517904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431536" y="1508760"/>
            <a:ext cx="1517904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5F66"/>
                </a:solidFill>
              </a:rPr>
              <a:t>Day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31536" y="1874519"/>
            <a:ext cx="151790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Thu Oct 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77255" y="2240280"/>
            <a:ext cx="1426463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</a:rPr>
              <a:t>Building figures with Inkscape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1536" y="3200400"/>
            <a:ext cx="151790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55555"/>
                </a:solidFill>
              </a:rPr>
              <a:t>Inkscape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958583" y="2487168"/>
            <a:ext cx="137160" cy="201168"/>
          </a:xfrm>
          <a:prstGeom prst="rightArrow">
            <a:avLst/>
          </a:prstGeom>
          <a:solidFill>
            <a:srgbClr val="BBBBB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104888" y="1417320"/>
            <a:ext cx="1517904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04888" y="1508760"/>
            <a:ext cx="1517904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F5F66"/>
                </a:solidFill>
              </a:rPr>
              <a:t>Day 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04888" y="1874519"/>
            <a:ext cx="151790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Fri Oct 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50607" y="2240280"/>
            <a:ext cx="1426463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22222"/>
                </a:solidFill>
              </a:rPr>
              <a:t>Writing with LaTeX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04888" y="3200400"/>
            <a:ext cx="1517904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55555"/>
                </a:solidFill>
              </a:rPr>
              <a:t>Overleaf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3886200"/>
            <a:ext cx="1517904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 i="0">
                <a:solidFill>
                  <a:srgbClr val="C8102E"/>
                </a:solidFill>
              </a:rPr>
              <a:t>▲ TODAY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343400"/>
            <a:ext cx="8321040" cy="146304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94360" y="4434840"/>
            <a:ext cx="7955279" cy="1325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1F5F66"/>
                </a:solidFill>
              </a:rPr>
              <a:t>Today's goal: </a:t>
            </a:r>
            <a:r>
              <a:rPr sz="1400" b="0" i="0">
                <a:solidFill>
                  <a:srgbClr val="222222"/>
                </a:solidFill>
              </a:rPr>
              <a:t>turn an RNA-seq dataset into a multi-panel, publication-ready figure in Python.</a:t>
            </a:r>
          </a:p>
          <a:p>
            <a:pPr>
              <a:spcAft>
                <a:spcPts val="800"/>
              </a:spcAft>
            </a:pPr>
            <a:r>
              <a:rPr sz="1400" b="1" i="0">
                <a:solidFill>
                  <a:srgbClr val="1F5F66"/>
                </a:solidFill>
              </a:rPr>
              <a:t>Today's output → tomorrow's input: </a:t>
            </a:r>
            <a:r>
              <a:rPr sz="1400" b="0" i="0">
                <a:solidFill>
                  <a:srgbClr val="222222"/>
                </a:solidFill>
              </a:rPr>
              <a:t>Day 2 uses the </a:t>
            </a:r>
            <a:r>
              <a:rPr sz="1400" b="1" i="0">
                <a:solidFill>
                  <a:srgbClr val="222222"/>
                </a:solidFill>
              </a:rPr>
              <a:t>same dataset</a:t>
            </a:r>
            <a:r>
              <a:rPr sz="1400" b="0" i="0">
                <a:solidFill>
                  <a:srgbClr val="222222"/>
                </a:solidFill>
              </a:rPr>
              <a:t> in R; the vector PDF/SVG you export today is what you polish in </a:t>
            </a:r>
            <a:r>
              <a:rPr sz="1400" b="1" i="0">
                <a:solidFill>
                  <a:srgbClr val="222222"/>
                </a:solidFill>
              </a:rPr>
              <a:t>Inkscape</a:t>
            </a:r>
            <a:r>
              <a:rPr sz="1400" b="0" i="0">
                <a:solidFill>
                  <a:srgbClr val="222222"/>
                </a:solidFill>
              </a:rPr>
              <a:t> (Day 4) and place in </a:t>
            </a:r>
            <a:r>
              <a:rPr sz="1400" b="1" i="0">
                <a:solidFill>
                  <a:srgbClr val="222222"/>
                </a:solidFill>
              </a:rPr>
              <a:t>LaTeX</a:t>
            </a:r>
            <a:r>
              <a:rPr sz="1400" b="0" i="0">
                <a:solidFill>
                  <a:srgbClr val="222222"/>
                </a:solidFill>
              </a:rPr>
              <a:t> (Day 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Learning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813816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rgbClr val="555555"/>
                </a:solidFill>
              </a:rPr>
              <a:t>In this 2-hour hands-on session we explore the Python visualization ecosystem: how Seaborn's high-level statistical plots are built on Matplotlib Figure and Axes objects, and how to combine both to produce clear, high-resolution figures from real biological data.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103120"/>
            <a:ext cx="502920" cy="502920"/>
          </a:xfrm>
          <a:prstGeom prst="ellipse">
            <a:avLst/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2167127"/>
            <a:ext cx="502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121408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5F66"/>
                </a:solidFill>
              </a:rPr>
              <a:t>Explain </a:t>
            </a:r>
            <a:r>
              <a:rPr sz="1500" b="0" i="0">
                <a:solidFill>
                  <a:srgbClr val="222222"/>
                </a:solidFill>
              </a:rPr>
              <a:t>the Figure / Axes model and use Matplotlib's object-oriented interface.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62072"/>
            <a:ext cx="502920" cy="502920"/>
          </a:xfrm>
          <a:prstGeom prst="ellipse">
            <a:avLst/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2926079"/>
            <a:ext cx="502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80360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5F66"/>
                </a:solidFill>
              </a:rPr>
              <a:t>Reshape </a:t>
            </a:r>
            <a:r>
              <a:rPr sz="1500" b="0" i="0">
                <a:solidFill>
                  <a:srgbClr val="222222"/>
                </a:solidFill>
              </a:rPr>
              <a:t>data into tidy format and use axes-level vs. figure-level Seaborn functions.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621024"/>
            <a:ext cx="502920" cy="502920"/>
          </a:xfrm>
          <a:prstGeom prst="ellipse">
            <a:avLst/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685032"/>
            <a:ext cx="502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639312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5F66"/>
                </a:solidFill>
              </a:rPr>
              <a:t>Create </a:t>
            </a:r>
            <a:r>
              <a:rPr sz="1500" b="0" i="0">
                <a:solidFill>
                  <a:srgbClr val="222222"/>
                </a:solidFill>
              </a:rPr>
              <a:t>QC, distribution, scatter, volcano, heatmap and PCA / t-SNE / UMAP plots of RNA-seq data.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379975"/>
            <a:ext cx="502920" cy="502920"/>
          </a:xfrm>
          <a:prstGeom prst="ellipse">
            <a:avLst/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4443983"/>
            <a:ext cx="502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398263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5F66"/>
                </a:solidFill>
              </a:rPr>
              <a:t>Assemble </a:t>
            </a:r>
            <a:r>
              <a:rPr sz="1500" b="0" i="0">
                <a:solidFill>
                  <a:srgbClr val="222222"/>
                </a:solidFill>
              </a:rPr>
              <a:t>a multi-panel figure at journal dimensions with a consistent, colour-blind-safe style.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138927"/>
            <a:ext cx="502920" cy="502920"/>
          </a:xfrm>
          <a:prstGeom prst="ellipse">
            <a:avLst/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548640" y="5202936"/>
            <a:ext cx="502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5157215"/>
            <a:ext cx="73152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 i="0">
                <a:solidFill>
                  <a:srgbClr val="1F5F66"/>
                </a:solidFill>
              </a:rPr>
              <a:t>Export </a:t>
            </a:r>
            <a:r>
              <a:rPr sz="1500" b="0" i="0">
                <a:solidFill>
                  <a:srgbClr val="222222"/>
                </a:solidFill>
              </a:rPr>
              <a:t>vector (PDF/SVG) and high-dpi raster files ready for Inkscape and LaTeX.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Outline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80467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5577840"/>
                <a:gridCol w="1371600"/>
              </a:tblGrid>
              <a:tr h="45720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Module</a:t>
                      </a:r>
                    </a:p>
                  </a:txBody>
                  <a:tcPr>
                    <a:solidFill>
                      <a:srgbClr val="1F5F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Topic</a:t>
                      </a:r>
                    </a:p>
                  </a:txBody>
                  <a:tcPr>
                    <a:solidFill>
                      <a:srgbClr val="1F5F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Minutes</a:t>
                      </a:r>
                    </a:p>
                  </a:txBody>
                  <a:tcPr>
                    <a:solidFill>
                      <a:srgbClr val="1F5F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Setup &amp; the dataset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Anatomy of a Matplotlib figure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Seaborn, tidy data &amp; distributions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Relationships: scatter, MA &amp; volcano plots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Heatmaps &amp; clustered heatmaps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Dimensionality reduction: PCA, t-SNE, UMAP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Multi-panel figures &amp; high-resolution export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3F2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</a:rPr>
                        <a:t>Wrap-up, checklist &amp; 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440680"/>
            <a:ext cx="80467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1">
                <a:solidFill>
                  <a:srgbClr val="555555"/>
                </a:solidFill>
              </a:rPr>
              <a:t>✏️  Every module ends with a short exercise in the notebook.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Today's dataset: SARS-CoV-2 &amp; the eye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813816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0" i="0">
                <a:solidFill>
                  <a:srgbClr val="555555"/>
                </a:solidFill>
              </a:rPr>
              <a:t>Bulk RNA-seq of post-mortem human ocular tissue infected ex vivo with SARS-CoV-2 or mock — </a:t>
            </a:r>
            <a:r>
              <a:rPr sz="1400" b="0" i="1">
                <a:solidFill>
                  <a:srgbClr val="555555"/>
                </a:solidFill>
              </a:rPr>
              <a:t>Eriksen et al., Cell Stem Cell 2021</a:t>
            </a:r>
            <a:r>
              <a:rPr sz="1400" b="1" i="0">
                <a:solidFill>
                  <a:srgbClr val="555555"/>
                </a:solidFill>
              </a:rPr>
              <a:t> · GEO GSE164073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08760" y="1709928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1463040" y="1728216"/>
            <a:ext cx="1234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</a:rPr>
              <a:t>cornea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1709928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56B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697480" y="1728216"/>
            <a:ext cx="1234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</a:rPr>
              <a:t>limbus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40" y="1709928"/>
            <a:ext cx="1143000" cy="365760"/>
          </a:xfrm>
          <a:prstGeom prst="roundRect">
            <a:avLst>
              <a:gd name="adj" fmla="val 20000"/>
            </a:avLst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931920" y="1728216"/>
            <a:ext cx="12344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</a:rPr>
              <a:t>sclera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94560"/>
            <a:ext cx="868680" cy="685800"/>
          </a:xfrm>
          <a:prstGeom prst="roundRect">
            <a:avLst>
              <a:gd name="adj" fmla="val 20000"/>
            </a:avLst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02920" y="2331720"/>
            <a:ext cx="868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</a:rPr>
              <a:t>mock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08760" y="219456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709928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002536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2295144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2743200" y="219456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2944368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236976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3529584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3977640" y="219456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178808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4471416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764024" y="2404872"/>
            <a:ext cx="201168" cy="201168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502920" y="2971800"/>
            <a:ext cx="868680" cy="685800"/>
          </a:xfrm>
          <a:prstGeom prst="roundRect">
            <a:avLst>
              <a:gd name="adj" fmla="val 20000"/>
            </a:avLst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02920" y="3108960"/>
            <a:ext cx="868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</a:rPr>
              <a:t>CoV2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08760" y="29718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709928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002536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295144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2743200" y="29718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2944368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3236976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3529584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977640" y="2971800"/>
            <a:ext cx="114300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4178808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4471416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4764024" y="3182112"/>
            <a:ext cx="201168" cy="201168"/>
          </a:xfrm>
          <a:prstGeom prst="ellipse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02920" y="3794759"/>
            <a:ext cx="51206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 i="0">
                <a:solidFill>
                  <a:srgbClr val="222222"/>
                </a:solidFill>
              </a:rPr>
              <a:t>3 tissues × 2 conditions × 3 donors = </a:t>
            </a:r>
            <a:r>
              <a:rPr sz="1400" b="1" i="0">
                <a:solidFill>
                  <a:srgbClr val="222222"/>
                </a:solidFill>
              </a:rPr>
              <a:t>18 samples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0" y="1691640"/>
            <a:ext cx="3200400" cy="260604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623560" y="1828800"/>
            <a:ext cx="3017520" cy="3108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300" b="1" i="0">
                <a:solidFill>
                  <a:srgbClr val="1F5F66"/>
                </a:solidFill>
                <a:latin typeface="Courier New"/>
              </a:rPr>
              <a:t>Exercises/data/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ourier New"/>
              </a:rPr>
              <a:t>sample_metadata.csv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555555"/>
                </a:solidFill>
              </a:rPr>
              <a:t>sample · tissue · condition</a:t>
            </a:r>
          </a:p>
          <a:p>
            <a:pPr>
              <a:spcAft>
                <a:spcPts val="300"/>
              </a:spcAft>
            </a:pPr>
            <a:r>
              <a:rPr sz="1000" b="1" i="0">
                <a:solidFill>
                  <a:srgbClr val="222222"/>
                </a:solidFill>
                <a:latin typeface="Courier New"/>
              </a:rPr>
              <a:t>GSE164073_Eye_count_matrix.tsv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555555"/>
                </a:solidFill>
              </a:rPr>
              <a:t>raw counts, genes × samples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22222"/>
                </a:solidFill>
                <a:latin typeface="Courier New"/>
              </a:rPr>
              <a:t>log2cpm_filtered.csv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555555"/>
                </a:solidFill>
              </a:rPr>
              <a:t>normalised expression</a:t>
            </a:r>
          </a:p>
          <a:p>
            <a:pPr>
              <a:spcAft>
                <a:spcPts val="300"/>
              </a:spcAft>
            </a:pPr>
            <a:r>
              <a:rPr sz="1100" b="1" i="0">
                <a:solidFill>
                  <a:srgbClr val="222222"/>
                </a:solidFill>
                <a:latin typeface="Courier New"/>
              </a:rPr>
              <a:t>de_cornea_CoV2_vs_mock.csv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555555"/>
                </a:solidFill>
              </a:rPr>
              <a:t>DE results (PyDESeq2)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5120640"/>
            <a:ext cx="818387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40080" y="5166360"/>
            <a:ext cx="7955279" cy="594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</a:rPr>
              <a:t>Same data in </a:t>
            </a:r>
            <a:r>
              <a:rPr sz="1300" b="1" i="0">
                <a:solidFill>
                  <a:srgbClr val="222222"/>
                </a:solidFill>
              </a:rPr>
              <a:t>Day 2 (ggplot2)</a:t>
            </a:r>
            <a:r>
              <a:rPr sz="1300" b="0" i="0">
                <a:solidFill>
                  <a:srgbClr val="222222"/>
                </a:solidFill>
              </a:rPr>
              <a:t> and in the QLS-MiCM Differential Gene Expression workshop. Today we focus on </a:t>
            </a:r>
            <a:r>
              <a:rPr sz="1300" b="1" i="1">
                <a:solidFill>
                  <a:srgbClr val="222222"/>
                </a:solidFill>
              </a:rPr>
              <a:t>showing</a:t>
            </a:r>
            <a:r>
              <a:rPr sz="1300" b="0" i="0">
                <a:solidFill>
                  <a:srgbClr val="222222"/>
                </a:solidFill>
              </a:rPr>
              <a:t> data, not on the statistics behind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Interactive workshop — open the notebook!</a:t>
            </a:r>
          </a:p>
        </p:txBody>
      </p:sp>
      <p:pic>
        <p:nvPicPr>
          <p:cNvPr id="3" name="Picture 2" descr="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2377440" cy="2377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3703320"/>
            <a:ext cx="2834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Courier New"/>
              </a:rPr>
              <a:t>github.com/QLS-MiCM/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222222"/>
                </a:solidFill>
                <a:latin typeface="Courier New"/>
              </a:rPr>
              <a:t>DataVisualizationInPython</a:t>
            </a:r>
          </a:p>
        </p:txBody>
      </p:sp>
      <p:sp>
        <p:nvSpPr>
          <p:cNvPr id="5" name="Rounded Rectangle 4">
            <a:hlinkClick r:id="rId3"/>
          </p:cNvPr>
          <p:cNvSpPr/>
          <p:nvPr/>
        </p:nvSpPr>
        <p:spPr>
          <a:xfrm>
            <a:off x="685800" y="4343400"/>
            <a:ext cx="2286000" cy="548640"/>
          </a:xfrm>
          <a:prstGeom prst="roundRect">
            <a:avLst>
              <a:gd name="adj" fmla="val 8000"/>
            </a:avLst>
          </a:prstGeom>
          <a:solidFill>
            <a:srgbClr val="1F5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4407408"/>
            <a:ext cx="22860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</a:rPr>
              <a:t>▶  Open in Colab</a:t>
            </a:r>
          </a:p>
        </p:txBody>
      </p:sp>
      <p:sp>
        <p:nvSpPr>
          <p:cNvPr id="7" name="Oval 6"/>
          <p:cNvSpPr/>
          <p:nvPr/>
        </p:nvSpPr>
        <p:spPr>
          <a:xfrm>
            <a:off x="3566160" y="1325880"/>
            <a:ext cx="457200" cy="45720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566160" y="1380744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289304"/>
            <a:ext cx="457200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</a:rPr>
              <a:t>Open the student notebook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555555"/>
                </a:solidFill>
              </a:rPr>
              <a:t>in Google Colab (link in the README) — no install needed.</a:t>
            </a:r>
          </a:p>
        </p:txBody>
      </p:sp>
      <p:sp>
        <p:nvSpPr>
          <p:cNvPr id="10" name="Oval 9"/>
          <p:cNvSpPr/>
          <p:nvPr/>
        </p:nvSpPr>
        <p:spPr>
          <a:xfrm>
            <a:off x="3566160" y="2286000"/>
            <a:ext cx="457200" cy="45720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66160" y="2340864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249424"/>
            <a:ext cx="457200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</a:rPr>
              <a:t>Run the first setup cell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555555"/>
                </a:solidFill>
              </a:rPr>
              <a:t>it installs umap-learn &amp; adjustText and loads the data from GitHub.</a:t>
            </a:r>
          </a:p>
        </p:txBody>
      </p:sp>
      <p:sp>
        <p:nvSpPr>
          <p:cNvPr id="13" name="Oval 12"/>
          <p:cNvSpPr/>
          <p:nvPr/>
        </p:nvSpPr>
        <p:spPr>
          <a:xfrm>
            <a:off x="3566160" y="3246120"/>
            <a:ext cx="457200" cy="45720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66160" y="3300984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3209544"/>
            <a:ext cx="457200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</a:rPr>
              <a:t>Fill in the blanks ___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555555"/>
                </a:solidFill>
              </a:rPr>
              <a:t>in each ✏️ Exercise cell, then run it.</a:t>
            </a:r>
          </a:p>
        </p:txBody>
      </p:sp>
      <p:sp>
        <p:nvSpPr>
          <p:cNvPr id="16" name="Oval 15"/>
          <p:cNvSpPr/>
          <p:nvPr/>
        </p:nvSpPr>
        <p:spPr>
          <a:xfrm>
            <a:off x="3566160" y="4206240"/>
            <a:ext cx="457200" cy="457200"/>
          </a:xfrm>
          <a:prstGeom prst="ellipse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566160" y="4261104"/>
            <a:ext cx="4572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4169664"/>
            <a:ext cx="4572000" cy="868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222222"/>
                </a:solidFill>
              </a:rPr>
              <a:t>Stuck?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555555"/>
                </a:solidFill>
              </a:rPr>
              <a:t>raise your hand — or peek at the solutions notebook.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Anatomy of a Matplotlib figure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1</a:t>
            </a:r>
          </a:p>
        </p:txBody>
      </p:sp>
      <p:pic>
        <p:nvPicPr>
          <p:cNvPr id="4" name="Picture 3" descr="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97280"/>
            <a:ext cx="4937760" cy="32918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32120" y="1097280"/>
            <a:ext cx="3200400" cy="1325880"/>
          </a:xfrm>
          <a:prstGeom prst="roundRect">
            <a:avLst>
              <a:gd name="adj" fmla="val 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23559" y="1143000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 i="0">
                <a:solidFill>
                  <a:srgbClr val="9CDCFE"/>
                </a:solidFill>
              </a:rPr>
              <a:t>Implicit  (plt.)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59" y="1417320"/>
            <a:ext cx="3017520" cy="96011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plt.plot(x, y)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plt.title('...')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8AC07A"/>
                </a:solidFill>
                <a:latin typeface="Courier New"/>
              </a:rPr>
              <a:t># which plot am I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8AC07A"/>
                </a:solidFill>
                <a:latin typeface="Courier New"/>
              </a:rPr>
              <a:t># editing now?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2560320"/>
            <a:ext cx="3200400" cy="1600200"/>
          </a:xfrm>
          <a:prstGeom prst="roundRect">
            <a:avLst>
              <a:gd name="adj" fmla="val 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23559" y="2606039"/>
            <a:ext cx="30175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100" b="1" i="0">
                <a:solidFill>
                  <a:srgbClr val="9CDCFE"/>
                </a:solidFill>
              </a:rPr>
              <a:t>Explicit / OO  ✔ recommended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59" y="2880359"/>
            <a:ext cx="3017520" cy="1234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fig, ax = plt.subplots()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ax.plot(x, y)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ax.set_title('...')</a:t>
            </a:r>
          </a:p>
          <a:p>
            <a:pPr>
              <a:spcAft>
                <a:spcPts val="0"/>
              </a:spcAft>
            </a:pPr>
            <a:r>
              <a:rPr sz="1200" b="0" i="0">
                <a:solidFill>
                  <a:srgbClr val="EEEEEE"/>
                </a:solidFill>
                <a:latin typeface="Courier New"/>
              </a:rPr>
              <a:t>ax.set_xlabel('...')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429768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1" i="0">
                <a:solidFill>
                  <a:srgbClr val="C8102E"/>
                </a:solidFill>
              </a:rPr>
              <a:t>Figure</a:t>
            </a:r>
            <a:r>
              <a:rPr sz="1300" b="0" i="0">
                <a:solidFill>
                  <a:srgbClr val="222222"/>
                </a:solidFill>
              </a:rPr>
              <a:t> = the canvas (size, saving)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1" i="0">
                <a:solidFill>
                  <a:srgbClr val="009E73"/>
                </a:solidFill>
              </a:rPr>
              <a:t>Axes</a:t>
            </a:r>
            <a:r>
              <a:rPr sz="1300" b="0" i="0">
                <a:solidFill>
                  <a:srgbClr val="222222"/>
                </a:solidFill>
              </a:rPr>
              <a:t> = one plot (data, labels, ticks)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0" i="0">
                <a:solidFill>
                  <a:srgbClr val="222222"/>
                </a:solidFill>
              </a:rPr>
              <a:t>Seaborn draws </a:t>
            </a:r>
            <a:r>
              <a:rPr sz="1300" b="0" i="1">
                <a:solidFill>
                  <a:srgbClr val="222222"/>
                </a:solidFill>
              </a:rPr>
              <a:t>on</a:t>
            </a:r>
            <a:r>
              <a:rPr sz="1300" b="0" i="0">
                <a:solidFill>
                  <a:srgbClr val="222222"/>
                </a:solidFill>
              </a:rPr>
              <a:t> Axes → anything is customisable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Seaborn speaks tidy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2</a:t>
            </a:r>
          </a:p>
        </p:txBody>
      </p:sp>
      <p:pic>
        <p:nvPicPr>
          <p:cNvPr id="4" name="Picture 3" descr="ti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27642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57200" y="3977639"/>
            <a:ext cx="4023360" cy="182880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4069080"/>
            <a:ext cx="3749039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1F5F66"/>
                </a:solidFill>
              </a:rPr>
              <a:t>Axes-level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22222"/>
                </a:solidFill>
                <a:latin typeface="Courier New"/>
              </a:rPr>
              <a:t>sns.scatterplot · boxplot · violinplot · heatmap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</a:rPr>
              <a:t>Draw on one Axes → pass ax= and place them in your own layout.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977639"/>
            <a:ext cx="4023360" cy="182880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00600" y="4069080"/>
            <a:ext cx="3749039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1F5F66"/>
                </a:solidFill>
              </a:rPr>
              <a:t>Figure-level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222222"/>
                </a:solidFill>
                <a:latin typeface="Courier New"/>
              </a:rPr>
              <a:t>sns.relplot · catplot · displot · clustermap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222222"/>
                </a:solidFill>
              </a:rPr>
              <a:t>Create their own figure → easy small multiples with col= / row=.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With small n, show the 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2</a:t>
            </a:r>
          </a:p>
        </p:txBody>
      </p:sp>
      <p:pic>
        <p:nvPicPr>
          <p:cNvPr id="4" name="Picture 3" descr="c20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43000"/>
            <a:ext cx="8229600" cy="31858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526280"/>
            <a:ext cx="81381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n = 3 per group: </a:t>
            </a:r>
            <a:r>
              <a:rPr sz="1400" b="0" i="0">
                <a:solidFill>
                  <a:srgbClr val="222222"/>
                </a:solidFill>
              </a:rPr>
              <a:t>a bar of means hides sample size, spread and outliers.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Overlay individual observations </a:t>
            </a:r>
            <a:r>
              <a:rPr sz="1400" b="0" i="0">
                <a:solidFill>
                  <a:srgbClr val="222222"/>
                </a:solidFill>
                <a:latin typeface="Courier New"/>
              </a:rPr>
              <a:t>(sns.stripplot</a:t>
            </a:r>
            <a:r>
              <a:rPr sz="1400" b="0" i="0">
                <a:solidFill>
                  <a:srgbClr val="222222"/>
                </a:solidFill>
              </a:rPr>
              <a:t> on top of </a:t>
            </a:r>
            <a:r>
              <a:rPr sz="1400" b="0" i="0">
                <a:solidFill>
                  <a:srgbClr val="222222"/>
                </a:solidFill>
                <a:latin typeface="Courier New"/>
              </a:rPr>
              <a:t>sns.boxplot</a:t>
            </a:r>
            <a:r>
              <a:rPr sz="1400" b="0" i="0">
                <a:solidFill>
                  <a:srgbClr val="222222"/>
                </a:solidFill>
              </a:rPr>
              <a:t>) and define error bars in the legend.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Keep colours consistent: </a:t>
            </a:r>
            <a:r>
              <a:rPr sz="1400" b="0" i="0">
                <a:solidFill>
                  <a:srgbClr val="222222"/>
                </a:solidFill>
              </a:rPr>
              <a:t>define a palette dictionary once and reuse it everywhere.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Relationships: volcano &amp; MA plots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3</a:t>
            </a:r>
          </a:p>
        </p:txBody>
      </p:sp>
      <p:pic>
        <p:nvPicPr>
          <p:cNvPr id="4" name="Picture 3" descr="c25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5216563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40680" y="1188720"/>
            <a:ext cx="329184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C8102E"/>
                </a:solidFill>
              </a:rPr>
              <a:t>x</a:t>
            </a:r>
            <a:r>
              <a:rPr sz="1400" b="0" i="0">
                <a:solidFill>
                  <a:srgbClr val="222222"/>
                </a:solidFill>
              </a:rPr>
              <a:t>: effect size — log₂ fold change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C8102E"/>
                </a:solidFill>
              </a:rPr>
              <a:t>y</a:t>
            </a:r>
            <a:r>
              <a:rPr sz="1400" b="0" i="0">
                <a:solidFill>
                  <a:srgbClr val="222222"/>
                </a:solidFill>
              </a:rPr>
              <a:t>: significance — −log₁₀ adj. p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Threshold lines</a:t>
            </a:r>
            <a:r>
              <a:rPr sz="1400" b="0" i="0">
                <a:solidFill>
                  <a:srgbClr val="222222"/>
                </a:solidFill>
              </a:rPr>
              <a:t> via ax.axhline / ax.axvline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Label key genes</a:t>
            </a:r>
            <a:r>
              <a:rPr sz="1400" b="0" i="0">
                <a:solidFill>
                  <a:srgbClr val="222222"/>
                </a:solidFill>
              </a:rPr>
              <a:t> — adjustText avoids overlaps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  <a:latin typeface="Courier New"/>
              </a:rPr>
              <a:t>rasterized=True</a:t>
            </a:r>
            <a:r>
              <a:rPr sz="1400" b="0" i="0">
                <a:solidFill>
                  <a:srgbClr val="222222"/>
                </a:solidFill>
              </a:rPr>
              <a:t> for &gt;10k points: small, fast vector files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1F5F66"/>
                </a:solidFill>
              </a:rPr>
              <a:t>Exercise 3: </a:t>
            </a:r>
            <a:r>
              <a:rPr sz="1400" b="0" i="0">
                <a:solidFill>
                  <a:srgbClr val="222222"/>
                </a:solidFill>
              </a:rPr>
              <a:t>build the MA plot (mean expression vs fold change)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Heatmaps: choose the colour map on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4</a:t>
            </a:r>
          </a:p>
        </p:txBody>
      </p:sp>
      <p:pic>
        <p:nvPicPr>
          <p:cNvPr id="4" name="Picture 3" descr="color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5120640" cy="2901696"/>
          </a:xfrm>
          <a:prstGeom prst="rect">
            <a:avLst/>
          </a:prstGeom>
        </p:spPr>
      </p:pic>
      <p:pic>
        <p:nvPicPr>
          <p:cNvPr id="5" name="Picture 4" descr="c32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005840"/>
            <a:ext cx="3538922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206240"/>
            <a:ext cx="50292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1" i="0">
                <a:solidFill>
                  <a:srgbClr val="222222"/>
                </a:solidFill>
              </a:rPr>
              <a:t>Sequential</a:t>
            </a:r>
            <a:r>
              <a:rPr sz="1300" b="0" i="0">
                <a:solidFill>
                  <a:srgbClr val="222222"/>
                </a:solidFill>
              </a:rPr>
              <a:t> for low → high (correlations, counts)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1" i="0">
                <a:solidFill>
                  <a:srgbClr val="222222"/>
                </a:solidFill>
              </a:rPr>
              <a:t>Diverging</a:t>
            </a:r>
            <a:r>
              <a:rPr sz="1300" b="0" i="0">
                <a:solidFill>
                  <a:srgbClr val="222222"/>
                </a:solidFill>
              </a:rPr>
              <a:t> + </a:t>
            </a:r>
            <a:r>
              <a:rPr sz="1300" b="0" i="0">
                <a:solidFill>
                  <a:srgbClr val="222222"/>
                </a:solidFill>
                <a:latin typeface="Courier New"/>
              </a:rPr>
              <a:t>center=0</a:t>
            </a:r>
            <a:r>
              <a:rPr sz="1300" b="0" i="0">
                <a:solidFill>
                  <a:srgbClr val="222222"/>
                </a:solidFill>
              </a:rPr>
              <a:t> for z-scores, fold changes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1" i="0">
                <a:solidFill>
                  <a:srgbClr val="222222"/>
                </a:solidFill>
              </a:rPr>
              <a:t>z-score genes</a:t>
            </a:r>
            <a:r>
              <a:rPr sz="1300" b="0" i="0">
                <a:solidFill>
                  <a:srgbClr val="222222"/>
                </a:solidFill>
              </a:rPr>
              <a:t> (</a:t>
            </a:r>
            <a:r>
              <a:rPr sz="1300" b="0" i="0">
                <a:solidFill>
                  <a:srgbClr val="222222"/>
                </a:solidFill>
                <a:latin typeface="Courier New"/>
              </a:rPr>
              <a:t>z_score=0</a:t>
            </a:r>
            <a:r>
              <a:rPr sz="1300" b="0" i="0">
                <a:solidFill>
                  <a:srgbClr val="222222"/>
                </a:solidFill>
              </a:rPr>
              <a:t>) to compare patterns</a:t>
            </a:r>
          </a:p>
          <a:p>
            <a:pPr>
              <a:spcAft>
                <a:spcPts val="5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1" i="0">
                <a:solidFill>
                  <a:srgbClr val="222222"/>
                </a:solidFill>
              </a:rPr>
              <a:t>Annotate groups</a:t>
            </a:r>
            <a:r>
              <a:rPr sz="1300" b="0" i="0">
                <a:solidFill>
                  <a:srgbClr val="222222"/>
                </a:solidFill>
              </a:rPr>
              <a:t> with </a:t>
            </a:r>
            <a:r>
              <a:rPr sz="1300" b="0" i="0">
                <a:solidFill>
                  <a:srgbClr val="222222"/>
                </a:solidFill>
                <a:latin typeface="Courier New"/>
              </a:rPr>
              <a:t>col_colors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Dimensionality reduction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5</a:t>
            </a:r>
          </a:p>
        </p:txBody>
      </p:sp>
      <p:pic>
        <p:nvPicPr>
          <p:cNvPr id="4" name="Picture 3" descr="c37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05840"/>
            <a:ext cx="7863840" cy="241427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840480"/>
          <a:ext cx="83210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286000"/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/>
                  </a:txBody>
                  <a:tcPr marT="27432" marB="27432">
                    <a:solidFill>
                      <a:srgbClr val="1F5F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PCA</a:t>
                      </a:r>
                    </a:p>
                  </a:txBody>
                  <a:tcPr marT="27432" marB="27432">
                    <a:solidFill>
                      <a:srgbClr val="1F5F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t-SNE</a:t>
                      </a:r>
                    </a:p>
                  </a:txBody>
                  <a:tcPr marT="27432" marB="27432">
                    <a:solidFill>
                      <a:srgbClr val="1F5F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UMAP</a:t>
                      </a:r>
                    </a:p>
                  </a:txBody>
                  <a:tcPr marT="27432" marB="27432">
                    <a:solidFill>
                      <a:srgbClr val="1F5F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Type</a:t>
                      </a:r>
                    </a:p>
                  </a:txBody>
                  <a:tcPr marT="27432" marB="27432"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linear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non-linear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non-linear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Axes mean…</a:t>
                      </a:r>
                    </a:p>
                  </a:txBody>
                  <a:tcPr marT="27432" marB="27432"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% variance explained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nothing (no units)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nothing (no units)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Good for</a:t>
                      </a:r>
                    </a:p>
                  </a:txBody>
                  <a:tcPr marT="27432" marB="27432"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bulk RNA-seq, global structure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local clusters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clusters + some global layout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Report</a:t>
                      </a:r>
                    </a:p>
                  </a:txBody>
                  <a:tcPr marT="27432" marB="27432">
                    <a:solidFill>
                      <a:srgbClr val="E3F2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 features, scaling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perplexity, seed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n_neighbors, min_dist, seed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3456432"/>
            <a:ext cx="83210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</a:rPr>
              <a:t>Tissue dominates PC1–PC2; infection only separates samples in a </a:t>
            </a:r>
            <a:r>
              <a:rPr sz="1200" b="1" i="0">
                <a:solidFill>
                  <a:srgbClr val="555555"/>
                </a:solidFill>
              </a:rPr>
              <a:t>within-tissue</a:t>
            </a:r>
            <a:r>
              <a:rPr sz="1200" b="0" i="0">
                <a:solidFill>
                  <a:srgbClr val="555555"/>
                </a:solidFill>
              </a:rPr>
              <a:t> PCA (notebook).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Multi-panel figures &amp; export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4572000" cy="274320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100" b="1">
                <a:solidFill>
                  <a:srgbClr val="C8102E"/>
                </a:solidFill>
                <a:latin typeface="Helvetica"/>
              </a:rPr>
              <a:t>MODULE 6</a:t>
            </a:r>
          </a:p>
        </p:txBody>
      </p:sp>
      <p:pic>
        <p:nvPicPr>
          <p:cNvPr id="4" name="Picture 3" descr="Figure1_cornea_Co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51560"/>
            <a:ext cx="5029200" cy="391238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532120" y="1051560"/>
            <a:ext cx="3246120" cy="2514600"/>
          </a:xfrm>
          <a:prstGeom prst="roundRect">
            <a:avLst>
              <a:gd name="adj" fmla="val 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23559" y="1097280"/>
            <a:ext cx="3063239" cy="2423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MM = 1 / 25.4  # mm -&gt; inch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fig, axd = plt.subplot_mosaic(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    'AB;CD',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    figsize=(180*MM, 140*MM),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    layout='constrained')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 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plt.rcParams['pdf.fonttype'] = 42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plt.rcParams['svg.fonttype'] = 'none'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8AC07A"/>
                </a:solidFill>
                <a:latin typeface="Courier New"/>
              </a:rPr>
              <a:t># no bbox_inches='tight': keep 180 mm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fig.savefig('Fig1.pdf')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EEEEEE"/>
                </a:solidFill>
                <a:latin typeface="Courier New"/>
              </a:rPr>
              <a:t>fig.savefig('Fig1.png', dpi=600)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3749039"/>
            <a:ext cx="32461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250" b="1" i="0">
                <a:solidFill>
                  <a:srgbClr val="C8102E"/>
                </a:solidFill>
              </a:rPr>
              <a:t>•  </a:t>
            </a:r>
            <a:r>
              <a:rPr sz="1250" b="1" i="0">
                <a:solidFill>
                  <a:srgbClr val="222222"/>
                </a:solidFill>
              </a:rPr>
              <a:t>Size in mm</a:t>
            </a:r>
            <a:r>
              <a:rPr sz="1250" b="0" i="0">
                <a:solidFill>
                  <a:srgbClr val="222222"/>
                </a:solidFill>
              </a:rPr>
              <a:t>: 85 (1 col) / 180 (2 col)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C8102E"/>
                </a:solidFill>
              </a:rPr>
              <a:t>•  </a:t>
            </a:r>
            <a:r>
              <a:rPr sz="1250" b="1" i="0">
                <a:solidFill>
                  <a:srgbClr val="222222"/>
                </a:solidFill>
              </a:rPr>
              <a:t>Fonts ≥ 6 pt</a:t>
            </a:r>
            <a:r>
              <a:rPr sz="1250" b="0" i="0">
                <a:solidFill>
                  <a:srgbClr val="222222"/>
                </a:solidFill>
              </a:rPr>
              <a:t> at final size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C8102E"/>
                </a:solidFill>
              </a:rPr>
              <a:t>•  </a:t>
            </a:r>
            <a:r>
              <a:rPr sz="1250" b="1" i="0">
                <a:solidFill>
                  <a:srgbClr val="222222"/>
                </a:solidFill>
              </a:rPr>
              <a:t>Editable text</a:t>
            </a:r>
            <a:r>
              <a:rPr sz="1250" b="0" i="0">
                <a:solidFill>
                  <a:srgbClr val="222222"/>
                </a:solidFill>
              </a:rPr>
              <a:t> in Inkscape via fonttype</a:t>
            </a:r>
          </a:p>
          <a:p>
            <a:pPr>
              <a:spcAft>
                <a:spcPts val="300"/>
              </a:spcAft>
            </a:pPr>
            <a:r>
              <a:rPr sz="1250" b="1" i="0">
                <a:solidFill>
                  <a:srgbClr val="C8102E"/>
                </a:solidFill>
              </a:rPr>
              <a:t>•  </a:t>
            </a:r>
            <a:r>
              <a:rPr sz="1250" b="1" i="0">
                <a:solidFill>
                  <a:srgbClr val="222222"/>
                </a:solidFill>
              </a:rPr>
              <a:t>Vector</a:t>
            </a:r>
            <a:r>
              <a:rPr sz="1250" b="0" i="0">
                <a:solidFill>
                  <a:srgbClr val="222222"/>
                </a:solidFill>
              </a:rPr>
              <a:t> for editing; </a:t>
            </a:r>
            <a:r>
              <a:rPr sz="1250" b="1" i="0">
                <a:solidFill>
                  <a:srgbClr val="222222"/>
                </a:solidFill>
              </a:rPr>
              <a:t>600 dpi</a:t>
            </a:r>
            <a:r>
              <a:rPr sz="1250" b="0" i="0">
                <a:solidFill>
                  <a:srgbClr val="222222"/>
                </a:solidFill>
              </a:rPr>
              <a:t> 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120640"/>
            <a:ext cx="50292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555555"/>
                </a:solidFill>
              </a:rPr>
              <a:t>Panel D uses </a:t>
            </a:r>
            <a:r>
              <a:rPr sz="1200" b="0" i="0">
                <a:solidFill>
                  <a:srgbClr val="555555"/>
                </a:solidFill>
                <a:latin typeface="Courier New"/>
              </a:rPr>
              <a:t>sns.heatmap</a:t>
            </a:r>
            <a:r>
              <a:rPr sz="1200" b="0" i="0">
                <a:solidFill>
                  <a:srgbClr val="555555"/>
                </a:solidFill>
              </a:rPr>
              <a:t> with SciPy clustering — figure-level </a:t>
            </a:r>
            <a:r>
              <a:rPr sz="1200" b="0" i="0">
                <a:solidFill>
                  <a:srgbClr val="555555"/>
                </a:solidFill>
                <a:latin typeface="Courier New"/>
              </a:rPr>
              <a:t>clustermap</a:t>
            </a:r>
            <a:r>
              <a:rPr sz="1200" b="0" i="0">
                <a:solidFill>
                  <a:srgbClr val="555555"/>
                </a:solidFill>
              </a:rPr>
              <a:t> can't live inside a layout.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Publication-figure checklist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128016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298448"/>
            <a:ext cx="329184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Labels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every axis labelled with units; gene names in italics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18872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800600" y="128016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298448"/>
            <a:ext cx="329184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Colour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same meaning in every panel; colour-blind safe; no rainbow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94360" y="278892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07208"/>
            <a:ext cx="329184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Honesty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show individual points for small n; bars start at zero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269748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800600" y="2788920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807208"/>
            <a:ext cx="329184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Size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built at journal column width; fonts ≥ 6 pt when printed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94360" y="4297679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15968"/>
            <a:ext cx="329184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Files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vector PDF/SVG + 600 dpi PNG; dense layers rasterised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206240"/>
            <a:ext cx="4023360" cy="1325880"/>
          </a:xfrm>
          <a:prstGeom prst="roundRect">
            <a:avLst>
              <a:gd name="adj" fmla="val 8000"/>
            </a:avLst>
          </a:prstGeom>
          <a:solidFill>
            <a:srgbClr val="E3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800600" y="4297679"/>
            <a:ext cx="457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200" b="1" i="0">
                <a:solidFill>
                  <a:srgbClr val="C8102E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315968"/>
            <a:ext cx="3291840" cy="1143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600" b="1" i="0">
                <a:solidFill>
                  <a:srgbClr val="1F5F66"/>
                </a:solidFill>
              </a:rPr>
              <a:t>Reproducible</a:t>
            </a:r>
          </a:p>
          <a:p>
            <a:pPr>
              <a:spcAft>
                <a:spcPts val="300"/>
              </a:spcAft>
            </a:pPr>
            <a:r>
              <a:rPr sz="1300" b="0" i="0">
                <a:solidFill>
                  <a:srgbClr val="222222"/>
                </a:solidFill>
              </a:rPr>
              <a:t>code saved; seeds &amp; parameters reported in Methods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777240"/>
          </a:xfrm>
        </p:spPr>
        <p:txBody>
          <a:bodyPr anchor="ctr"/>
          <a:lstStyle/>
          <a:p>
            <a:pPr algn="l"/>
            <a:r>
              <a:rPr sz="3000">
                <a:solidFill>
                  <a:srgbClr val="222222"/>
                </a:solidFill>
                <a:latin typeface="Helvetica"/>
              </a:rPr>
              <a:t>What's next &amp;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430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1F5F66"/>
                </a:solidFill>
              </a:rPr>
              <a:t>Coming up this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393192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Day 2 · </a:t>
            </a:r>
            <a:r>
              <a:rPr sz="1400" b="0" i="0">
                <a:solidFill>
                  <a:srgbClr val="222222"/>
                </a:solidFill>
              </a:rPr>
              <a:t>same plots in R with ggplot2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Day 3 · </a:t>
            </a:r>
            <a:r>
              <a:rPr sz="1400" b="0" i="0">
                <a:solidFill>
                  <a:srgbClr val="222222"/>
                </a:solidFill>
              </a:rPr>
              <a:t>bring your own data — good &amp; bad practices, hands-on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Day 4 · </a:t>
            </a:r>
            <a:r>
              <a:rPr sz="1400" b="0" i="0">
                <a:solidFill>
                  <a:srgbClr val="222222"/>
                </a:solidFill>
              </a:rPr>
              <a:t>bring today's PDF/SVG to Inkscape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C8102E"/>
                </a:solidFill>
              </a:rPr>
              <a:t>•  </a:t>
            </a:r>
            <a:r>
              <a:rPr sz="1400" b="1" i="0">
                <a:solidFill>
                  <a:srgbClr val="222222"/>
                </a:solidFill>
              </a:rPr>
              <a:t>Day 5 · </a:t>
            </a:r>
            <a:r>
              <a:rPr sz="1400" b="0" i="0">
                <a:solidFill>
                  <a:srgbClr val="222222"/>
                </a:solidFill>
              </a:rPr>
              <a:t>put the final figure into LaTeX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63440" y="1143000"/>
            <a:ext cx="40233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700" b="1" i="0">
                <a:solidFill>
                  <a:srgbClr val="1F5F66"/>
                </a:solidFill>
              </a:rPr>
              <a:t>Learn more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600200"/>
            <a:ext cx="402336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200" b="0" i="0">
                <a:solidFill>
                  <a:srgbClr val="222222"/>
                </a:solidFill>
                <a:latin typeface="Courier New"/>
              </a:rPr>
              <a:t>matplotlib.org/cheatsheets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200" b="0" i="0">
                <a:solidFill>
                  <a:srgbClr val="222222"/>
                </a:solidFill>
                <a:latin typeface="Courier New"/>
              </a:rPr>
              <a:t>seaborn.pydata.org/tutorial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200" b="0" i="0">
                <a:solidFill>
                  <a:srgbClr val="222222"/>
                </a:solidFill>
                <a:latin typeface="Courier New"/>
              </a:rPr>
              <a:t>data-to-viz.com</a:t>
            </a:r>
            <a:r>
              <a:rPr sz="1300" b="0" i="0">
                <a:solidFill>
                  <a:srgbClr val="222222"/>
                </a:solidFill>
              </a:rPr>
              <a:t> — which chart for which data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0" i="0">
                <a:solidFill>
                  <a:srgbClr val="222222"/>
                </a:solidFill>
              </a:rPr>
              <a:t>Rougier et al. 2014 </a:t>
            </a:r>
            <a:r>
              <a:rPr sz="1300" b="0" i="1">
                <a:solidFill>
                  <a:srgbClr val="222222"/>
                </a:solidFill>
              </a:rPr>
              <a:t>Ten simple rules for better figures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8102E"/>
                </a:solidFill>
              </a:rPr>
              <a:t>•  </a:t>
            </a:r>
            <a:r>
              <a:rPr sz="1300" b="0" i="0">
                <a:solidFill>
                  <a:srgbClr val="222222"/>
                </a:solidFill>
              </a:rPr>
              <a:t>Crameri et al. 2020 </a:t>
            </a:r>
            <a:r>
              <a:rPr sz="1300" b="0" i="1">
                <a:solidFill>
                  <a:srgbClr val="222222"/>
                </a:solidFill>
              </a:rPr>
              <a:t>The misuse of colour in science communication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72000"/>
            <a:ext cx="8183879" cy="1143000"/>
          </a:xfrm>
          <a:prstGeom prst="roundRect">
            <a:avLst>
              <a:gd name="adj" fmla="val 8000"/>
            </a:avLst>
          </a:prstGeom>
          <a:solidFill>
            <a:srgbClr val="FDEEEF"/>
          </a:solidFill>
          <a:ln w="15875">
            <a:solidFill>
              <a:srgbClr val="C810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4617720"/>
            <a:ext cx="7863840" cy="10515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 i="0">
                <a:solidFill>
                  <a:srgbClr val="C8102E"/>
                </a:solidFill>
              </a:rPr>
              <a:t>Homework (5 min): </a:t>
            </a:r>
            <a:r>
              <a:rPr sz="1400" b="0" i="0">
                <a:solidFill>
                  <a:srgbClr val="222222"/>
                </a:solidFill>
              </a:rPr>
              <a:t>keep your exported </a:t>
            </a:r>
            <a:r>
              <a:rPr sz="1400" b="1" i="0">
                <a:solidFill>
                  <a:srgbClr val="222222"/>
                </a:solidFill>
                <a:latin typeface="Courier New"/>
              </a:rPr>
              <a:t>Figure1_cornea_CoV2.pdf / .svg</a:t>
            </a:r>
            <a:r>
              <a:rPr sz="1400" b="0" i="0">
                <a:solidFill>
                  <a:srgbClr val="222222"/>
                </a:solidFill>
              </a:rPr>
              <a:t> — you will polish it in Inkscape on Thursday. Think about which of your own datasets you'd like to bring on Wednesday.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4782</TotalTime>
  <Words>2421</Words>
  <Application>Microsoft Macintosh PowerPoint</Application>
  <PresentationFormat>On-screen Show (4:3)</PresentationFormat>
  <Paragraphs>423</Paragraphs>
  <Slides>24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5" baseType="lpstr">
      <vt:lpstr>Aptos</vt:lpstr>
      <vt:lpstr>Aptos Mono</vt:lpstr>
      <vt:lpstr>Arial</vt:lpstr>
      <vt:lpstr>Calibri</vt:lpstr>
      <vt:lpstr>Calibri Light</vt:lpstr>
      <vt:lpstr>Helvetica</vt:lpstr>
      <vt:lpstr>Helvetica Light</vt:lpstr>
      <vt:lpstr>Open Sans Light</vt:lpstr>
      <vt:lpstr>Roboto Mono</vt:lpstr>
      <vt:lpstr>Wingdings</vt:lpstr>
      <vt:lpstr>Thème Office</vt:lpstr>
      <vt:lpstr>Data Processing in Python</vt:lpstr>
      <vt:lpstr>PowerPoint Presentation</vt:lpstr>
      <vt:lpstr>PowerPoint Presentation</vt:lpstr>
      <vt:lpstr>Learning Outcomes</vt:lpstr>
      <vt:lpstr>Outline</vt:lpstr>
      <vt:lpstr>Outline</vt:lpstr>
      <vt:lpstr>Interactive Workshop!</vt:lpstr>
      <vt:lpstr>Module 2 Introduction to NumPy Arrays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Module 4 Intro to Tabular Data with pandas</vt:lpstr>
      <vt:lpstr>PowerPoint Presentation</vt:lpstr>
      <vt:lpstr>PowerPoint Presentation</vt:lpstr>
      <vt:lpstr>To summarize</vt:lpstr>
      <vt:lpstr>Acknowledgements</vt:lpstr>
      <vt:lpstr>Feedback?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Rachade Hmamouchi</dc:creator>
  <cp:lastModifiedBy>Sameena Karsan</cp:lastModifiedBy>
  <cp:revision>187</cp:revision>
  <dcterms:created xsi:type="dcterms:W3CDTF">2019-07-29T14:54:16Z</dcterms:created>
  <dcterms:modified xsi:type="dcterms:W3CDTF">2026-06-16T19:21:11Z</dcterms:modified>
</cp:coreProperties>
</file>