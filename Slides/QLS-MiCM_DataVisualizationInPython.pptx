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316" r:id="rId2"/>
    <p:sldId id="321" r:id="rId3"/>
    <p:sldId id="338" r:id="rId4"/>
    <p:sldId id="397" r:id="rId5"/>
    <p:sldId id="398" r:id="rId6"/>
    <p:sldId id="399" r:id="rId7"/>
    <p:sldId id="400" r:id="rId8"/>
    <p:sldId id="401" r:id="rId9"/>
    <p:sldId id="402" r:id="rId10"/>
    <p:sldId id="403" r:id="rId11"/>
    <p:sldId id="404" r:id="rId12"/>
    <p:sldId id="405" r:id="rId13"/>
    <p:sldId id="406" r:id="rId14"/>
    <p:sldId id="407" r:id="rId15"/>
    <p:sldId id="408" r:id="rId16"/>
    <p:sldId id="409" r:id="rId17"/>
    <p:sldId id="410" r:id="rId18"/>
    <p:sldId id="396" r:id="rId19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89E"/>
    <a:srgbClr val="72B0AF"/>
    <a:srgbClr val="69B0A0"/>
    <a:srgbClr val="58B6C0"/>
    <a:srgbClr val="3494BA"/>
    <a:srgbClr val="FF91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03" autoAdjust="0"/>
    <p:restoredTop sz="94606" autoAdjust="0"/>
  </p:normalViewPr>
  <p:slideViewPr>
    <p:cSldViewPr snapToGrid="0">
      <p:cViewPr varScale="1">
        <p:scale>
          <a:sx n="119" d="100"/>
          <a:sy n="119" d="100"/>
        </p:scale>
        <p:origin x="98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E0E883B-34CD-C662-4894-9F17ACB17F6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E3C337-8F20-DC0E-F086-75F80A1A91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74AA5-8A3E-4FDB-94BB-BF4B31CB4E38}" type="datetimeFigureOut">
              <a:rPr lang="en-CA" smtClean="0"/>
              <a:t>2026-10-25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2B551-A114-1711-7660-206556B020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960C49-B3C8-81BE-2872-8D4647B443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A9F605-ADAB-47CB-BC74-76DC0A949AA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3588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Welcome. Day 1 of the 5-day Code to Manuscript bootcamp (QLS-MiCM, CDSI, D2R, C3G). Introduce yourself and the facilitator. The session is hands-on: almost everything happens in the Colab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9971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4037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882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Place today in the context of the whole week. Emphasise that the data and the exported files carry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the objectives. Prerequisite: basic Python syntax and pandas DataFrames.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Roughly 2 hours. If time is short, Exercise 5 (t-SNE perplexity) can be skipped; Module 6 should not be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Small and fast: 18 samples, ~13k expressed genes. All processing is pre-computed by Exercises/data_scripts/prepare_data.py so we can focus on plotting. Biology hook: infected cornea shows an NF-kB / inflammatory response (SOD2, C3, IL6, TNFAIP3).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Give everyone 3–4 minutes to open </a:t>
            </a:r>
            <a:r>
              <a:rPr dirty="0" err="1"/>
              <a:t>Colab</a:t>
            </a:r>
            <a:r>
              <a:rPr dirty="0"/>
              <a:t> and run the setup cell. Local Jupyter works too: clone the repo and run from Exercises/scripts.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Key idea of the day. Every element of a plot is an object you can modify. Always use fig, ax = </a:t>
            </a:r>
            <a:r>
              <a:rPr dirty="0" err="1"/>
              <a:t>plt.subplots</a:t>
            </a:r>
            <a:r>
              <a:rPr dirty="0"/>
              <a:t>(); this pays off when building multi-panel figures in Module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Wide = how data are usually stored; long = how Seaborn wants them: one row per observation, columns map to x, y, hue, 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Good/bad practice preview for Day 3. Weissgerber et al. 2015 (</a:t>
            </a:r>
            <a:r>
              <a:rPr dirty="0" err="1"/>
              <a:t>PLoS</a:t>
            </a:r>
            <a:r>
              <a:rPr dirty="0"/>
              <a:t> Biol) 'Beyond bar and line graphs' is a good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Cornea CoV2 vs mock. Top genes are NF-kB targets (SOD2, C3, TNFAIP3, CXCL1) — matches the paper's inflammatory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Rainbow/jet is not perceptually uniform and is unreadable for </a:t>
            </a:r>
            <a:r>
              <a:rPr dirty="0" err="1"/>
              <a:t>colour</a:t>
            </a:r>
            <a:r>
              <a:rPr dirty="0"/>
              <a:t>-blind readers (</a:t>
            </a:r>
            <a:r>
              <a:rPr dirty="0" err="1"/>
              <a:t>Crameri</a:t>
            </a:r>
            <a:r>
              <a:rPr dirty="0"/>
              <a:t> et al. 2020, Nat Commun).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Keep the </a:t>
            </a:r>
            <a:r>
              <a:rPr dirty="0" err="1"/>
              <a:t>maths</a:t>
            </a:r>
            <a:r>
              <a:rPr dirty="0"/>
              <a:t> light. Point out that tissue dominates PC1/PC2; the notebook's within-tissue PCA shows infection on PC1. Message: PCA is the default for bulk data; t-SNE/UMAP are for many points (single cell) and are sensitive to parameters — Exercise 5 shows this. Always set and report the random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On </a:t>
            </a:r>
            <a:r>
              <a:rPr dirty="0" err="1"/>
              <a:t>Colab</a:t>
            </a:r>
            <a:r>
              <a:rPr dirty="0"/>
              <a:t>, files in figures/ vanish when the session ends: run the download cell. Never screenshot a plot for a paper. Keep the exported PDF/SVG: participants bring it to Day 4 (Inkscape).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checklist is also at the end of the notebook. We'll build on it on Day 3 (good vs bad practices).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Remind participants to fill the Day 3 registration question about their data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63281" y="60798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585105" cy="4383864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DDB01B34-4658-0BF9-DEB6-F09620837D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599635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5"/>
            <a:ext cx="9144000" cy="8996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93431" y="5"/>
            <a:ext cx="3727939" cy="89967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09953"/>
            <a:ext cx="7886700" cy="113347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2341" y="2243015"/>
            <a:ext cx="7886700" cy="332008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038216"/>
            <a:ext cx="7886700" cy="3666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8"/>
            <a:ext cx="9146150" cy="121246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</p:grpSp>
      <p:pic>
        <p:nvPicPr>
          <p:cNvPr id="6" name="Picture 5" descr="A close-up of a logo&#10;&#10;Description automatically generated">
            <a:extLst>
              <a:ext uri="{FF2B5EF4-FFF2-40B4-BE49-F238E27FC236}">
                <a16:creationId xmlns:a16="http://schemas.microsoft.com/office/drawing/2014/main" id="{25746FDC-B172-848D-40AE-03399FB3A205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857750" y="6066558"/>
            <a:ext cx="428625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62" r:id="rId3"/>
    <p:sldLayoutId id="2147483663" r:id="rId4"/>
    <p:sldLayoutId id="2147483664" r:id="rId5"/>
    <p:sldLayoutId id="2147483666" r:id="rId6"/>
    <p:sldLayoutId id="2147483667" r:id="rId7"/>
    <p:sldLayoutId id="2147483669" r:id="rId8"/>
  </p:sldLayoutIdLst>
  <p:hf sldNum="0" hdr="0" ftr="0" dt="0"/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cgill.ca/micm/training/workshops-seri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QLS-MiCM/DataVisualizationInPython/blob/main/Exercises/scripts/DataVisualizationInPython.ipynb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jpg"/><Relationship Id="rId5" Type="http://schemas.openxmlformats.org/officeDocument/2006/relationships/hyperlink" Target="https://colab.research.google.com/github/QLS-MiCM/Fall-2026-Bootcamp-Data-Visualization-in-Python/blob/main/Exercises/scripts/DataVisualizationInPython.ipynb" TargetMode="External"/><Relationship Id="rId4" Type="http://schemas.openxmlformats.org/officeDocument/2006/relationships/hyperlink" Target="https://github.com/QLS-MiCM/Fall-2026-Bootcamp-Data-Visualization-in-Python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tinyurl.com/QLS-MiCM-Feedback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2194560"/>
            <a:ext cx="8046720" cy="914400"/>
          </a:xfrm>
        </p:spPr>
        <p:txBody>
          <a:bodyPr>
            <a:normAutofit/>
          </a:bodyPr>
          <a:lstStyle/>
          <a:p>
            <a:pPr algn="ctr"/>
            <a:r>
              <a:rPr lang="en-CA" sz="4000" dirty="0">
                <a:latin typeface="Helvetica"/>
                <a:cs typeface="Helvetica"/>
              </a:rPr>
              <a:t>Data Visualization in Python</a:t>
            </a:r>
            <a:endParaRPr lang="en-CA" dirty="0">
              <a:latin typeface="Helvetica" pitchFamily="2" charset="0"/>
              <a:cs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513291-C55D-7CB6-6FB8-00826C7B6F25}"/>
              </a:ext>
            </a:extLst>
          </p:cNvPr>
          <p:cNvSpPr txBox="1"/>
          <p:nvPr/>
        </p:nvSpPr>
        <p:spPr>
          <a:xfrm>
            <a:off x="91440" y="5074920"/>
            <a:ext cx="448056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500" dirty="0">
                <a:latin typeface="Helvetica Light"/>
              </a:rPr>
              <a:t>Instructor: Zahra Tavakol Hamedani</a:t>
            </a:r>
          </a:p>
          <a:p>
            <a:r>
              <a:rPr lang="en-CA" sz="1500" dirty="0">
                <a:latin typeface="Helvetica Light"/>
              </a:rPr>
              <a:t>Facilitator: Sameena Karsan</a:t>
            </a:r>
          </a:p>
          <a:p>
            <a:r>
              <a:rPr lang="en-CA" sz="1500">
                <a:latin typeface="Helvetica Light"/>
              </a:rPr>
              <a:t>October 26, 2026 · McIntyre 1027</a:t>
            </a:r>
            <a:endParaRPr lang="en-CA" dirty="0">
              <a:latin typeface="Helvetica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154680"/>
            <a:ext cx="804672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55555"/>
                </a:solidFill>
                <a:latin typeface="Helvetica Light"/>
              </a:rPr>
              <a:t>From RNA-seq counts to publication-ready figures with Matplotlib &amp; Seaborn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8046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8102E"/>
                </a:solidFill>
              </a:rPr>
              <a:t>CODE TO MANUSCRIPT BOOTCAMP  ·  DAY 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34CCA6-CDD6-465D-2360-AB7DC40CC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4534" y="86062"/>
            <a:ext cx="2869466" cy="7395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9423C5-7D7C-586B-AA0E-EB613C5E2F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40149"/>
            <a:ext cx="3295078" cy="7283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ED38D6-DAFB-3D69-C0D0-22E7332E7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7092" y="451368"/>
            <a:ext cx="3087814" cy="170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275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9969" y="5396173"/>
            <a:ext cx="6224058" cy="64633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Location: 550 Sherbrooke Street,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820547" y="1461827"/>
            <a:ext cx="750290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>
                <a:latin typeface="Helvetica" pitchFamily="2" charset="0"/>
              </a:rPr>
              <a:t>QLS-MiCM mission statement: d</a:t>
            </a:r>
            <a:r>
              <a:rPr lang="en-CA" sz="1800" b="0" i="0" dirty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 dirty="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825" y="208818"/>
            <a:ext cx="3732349" cy="9007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60708" y="6210464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https://</a:t>
            </a:r>
            <a:r>
              <a:rPr lang="en-CA" sz="1800" dirty="0" err="1">
                <a:latin typeface="Helvetica" panose="020B0604020202020204" pitchFamily="34" charset="0"/>
                <a:cs typeface="Helvetica" panose="020B0604020202020204" pitchFamily="34" charset="0"/>
              </a:rPr>
              <a:t>www.mcgill.ca</a:t>
            </a: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n-CA" sz="1800">
                <a:latin typeface="Helvetica" panose="020B0604020202020204" pitchFamily="34" charset="0"/>
                <a:cs typeface="Helvetica" panose="020B0604020202020204" pitchFamily="34" charset="0"/>
              </a:rPr>
              <a:t>micm</a:t>
            </a:r>
            <a:endParaRPr lang="en-CA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 descr="A map of a city&#10;&#10;Description automatically generated">
            <a:extLst>
              <a:ext uri="{FF2B5EF4-FFF2-40B4-BE49-F238E27FC236}">
                <a16:creationId xmlns:a16="http://schemas.microsoft.com/office/drawing/2014/main" id="{0D7302FE-4674-2672-DBA9-50C4E86C9A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753" y="2519758"/>
            <a:ext cx="2868491" cy="2356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647890" y="5514116"/>
            <a:ext cx="584822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elvetica" pitchFamily="2" charset="0"/>
                <a:hlinkClick r:id="rId3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D96498-6607-422D-4649-CD2575F6D567}"/>
              </a:ext>
            </a:extLst>
          </p:cNvPr>
          <p:cNvSpPr txBox="1"/>
          <p:nvPr/>
        </p:nvSpPr>
        <p:spPr>
          <a:xfrm>
            <a:off x="2597550" y="1295601"/>
            <a:ext cx="420860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Workshop Series</a:t>
            </a:r>
            <a:endParaRPr lang="en-US" sz="4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C30577-92C0-D4A6-33C8-B5AB0C9DE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499" y="1941932"/>
            <a:ext cx="3429001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The Code to Manuscript bootcamp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DEEEF"/>
          </a:solidFill>
          <a:ln w="317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08760"/>
            <a:ext cx="151790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8102E"/>
                </a:solidFill>
              </a:rPr>
              <a:t>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Mon Oct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1426463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Data visualization in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200400"/>
            <a:ext cx="151790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Matplotlib · Seaborn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38527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084831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84831" y="1508760"/>
            <a:ext cx="151790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1874519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Tue Oct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0551" y="2240280"/>
            <a:ext cx="1426463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Data visualization in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3200400"/>
            <a:ext cx="151790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ggplot2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11879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58183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58183" y="1508760"/>
            <a:ext cx="151790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183" y="1874519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Wed Oct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3" y="2240280"/>
            <a:ext cx="1426463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Bring your own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3" y="3200400"/>
            <a:ext cx="151790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Python or 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285231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31536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31536" y="1508760"/>
            <a:ext cx="151790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1536" y="1874519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Thu Oct 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7255" y="2240280"/>
            <a:ext cx="1426463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Building figures with Inkscape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3200400"/>
            <a:ext cx="151790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Inkscape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958583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104888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04888" y="1508760"/>
            <a:ext cx="151790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1874519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Fri Oct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0607" y="2240280"/>
            <a:ext cx="1426463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Writing with LaTeX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3200400"/>
            <a:ext cx="151790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Overleaf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886200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8102E"/>
                </a:solidFill>
              </a:rPr>
              <a:t>▲ TODAY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343400"/>
            <a:ext cx="8321040" cy="146304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4434840"/>
            <a:ext cx="7955279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1F5F66"/>
                </a:solidFill>
              </a:rPr>
              <a:t>Today's goal: </a:t>
            </a:r>
            <a:r>
              <a:rPr sz="1400" b="0" i="0">
                <a:solidFill>
                  <a:srgbClr val="222222"/>
                </a:solidFill>
              </a:rPr>
              <a:t>turn an RNA-seq dataset into a multi-panel, publication-ready figure in Python.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1F5F66"/>
                </a:solidFill>
              </a:rPr>
              <a:t>Today's output → tomorrow's input: </a:t>
            </a:r>
            <a:r>
              <a:rPr sz="1400" b="0" i="0">
                <a:solidFill>
                  <a:srgbClr val="222222"/>
                </a:solidFill>
              </a:rPr>
              <a:t>Day 2 uses the </a:t>
            </a:r>
            <a:r>
              <a:rPr sz="1400" b="1" i="0">
                <a:solidFill>
                  <a:srgbClr val="222222"/>
                </a:solidFill>
              </a:rPr>
              <a:t>same dataset</a:t>
            </a:r>
            <a:r>
              <a:rPr sz="1400" b="0" i="0">
                <a:solidFill>
                  <a:srgbClr val="222222"/>
                </a:solidFill>
              </a:rPr>
              <a:t> in R; the vector PDF/SVG you export today is what you polish in </a:t>
            </a:r>
            <a:r>
              <a:rPr sz="1400" b="1" i="0">
                <a:solidFill>
                  <a:srgbClr val="222222"/>
                </a:solidFill>
              </a:rPr>
              <a:t>Inkscape</a:t>
            </a:r>
            <a:r>
              <a:rPr sz="1400" b="0" i="0">
                <a:solidFill>
                  <a:srgbClr val="222222"/>
                </a:solidFill>
              </a:rPr>
              <a:t> (Day 4) and place in </a:t>
            </a:r>
            <a:r>
              <a:rPr sz="1400" b="1" i="0">
                <a:solidFill>
                  <a:srgbClr val="222222"/>
                </a:solidFill>
              </a:rPr>
              <a:t>LaTeX</a:t>
            </a:r>
            <a:r>
              <a:rPr sz="1400" b="0" i="0">
                <a:solidFill>
                  <a:srgbClr val="222222"/>
                </a:solidFill>
              </a:rPr>
              <a:t> (Day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Learning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13816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</a:rPr>
              <a:t>In this 2-hour hands-on session we explore the Python visualization ecosystem: how Seaborn's high-level statistical plots are built on Matplotlib Figure and Axes objects, and how to combine both to produce clear, high-resolution figures from real biological data.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03120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67127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21408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Explain </a:t>
            </a:r>
            <a:r>
              <a:rPr sz="1500" b="0" i="0">
                <a:solidFill>
                  <a:srgbClr val="222222"/>
                </a:solidFill>
              </a:rPr>
              <a:t>the Figure / Axes model and use Matplotlib's object-oriented interface.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62072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926079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80360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Reshape </a:t>
            </a:r>
            <a:r>
              <a:rPr sz="1500" b="0" i="0">
                <a:solidFill>
                  <a:srgbClr val="222222"/>
                </a:solidFill>
              </a:rPr>
              <a:t>data into tidy format and use axes-level vs. figure-level Seaborn functions.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621024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685032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39312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Create </a:t>
            </a:r>
            <a:r>
              <a:rPr sz="1500" b="0" i="0">
                <a:solidFill>
                  <a:srgbClr val="222222"/>
                </a:solidFill>
              </a:rPr>
              <a:t>QC, distribution, scatter, volcano, heatmap and PCA / t-SNE / UMAP plots of RNA-seq data.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9975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443983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398263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Assemble </a:t>
            </a:r>
            <a:r>
              <a:rPr sz="1500" b="0" i="0">
                <a:solidFill>
                  <a:srgbClr val="222222"/>
                </a:solidFill>
              </a:rPr>
              <a:t>a multi-panel figure at journal dimensions with a consistent, colour-blind-safe style.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138927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202936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157215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Export </a:t>
            </a:r>
            <a:r>
              <a:rPr sz="1500" b="0" i="0">
                <a:solidFill>
                  <a:srgbClr val="222222"/>
                </a:solidFill>
              </a:rPr>
              <a:t>vector (PDF/SVG) and high-dpi raster files ready for Inkscape and LaTeX.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Outline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8046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>
                    <a:solidFill>
                      <a:srgbClr val="1F5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Setup &amp; the dataset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Anatomy of a Matplotlib figure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Seaborn, tidy data &amp; distributions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Relationships: scatter, MA &amp; volcano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Heatmaps &amp; clustered heatmaps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Dimensionality reduction: PCA, t-SNE, UMAP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Multi-panel figures &amp; high-resolution export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Wrap-up, checklist &amp;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440680"/>
            <a:ext cx="8046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1">
                <a:solidFill>
                  <a:srgbClr val="555555"/>
                </a:solidFill>
              </a:rPr>
              <a:t>✏️  Every module ends with a short exercise in the notebook.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Today's dataset: SARS-CoV-2 &amp; the 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813816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</a:rPr>
              <a:t>Bulk RNA-seq of post-mortem human ocular tissue infected ex vivo with SARS-CoV-2 or mock — </a:t>
            </a:r>
            <a:r>
              <a:rPr sz="1400" b="0" i="1">
                <a:solidFill>
                  <a:srgbClr val="555555"/>
                </a:solidFill>
              </a:rPr>
              <a:t>Eriksen et al., Cell Stem Cell 2021</a:t>
            </a:r>
            <a:r>
              <a:rPr sz="1400" b="1" i="0">
                <a:solidFill>
                  <a:srgbClr val="555555"/>
                </a:solidFill>
              </a:rPr>
              <a:t> · GEO GSE164073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08760" y="170992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1728216"/>
            <a:ext cx="1234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cornea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70992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97480" y="1728216"/>
            <a:ext cx="1234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limbus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40" y="170992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0" y="1728216"/>
            <a:ext cx="1234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sclera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868680" cy="685800"/>
          </a:xfrm>
          <a:prstGeom prst="roundRect">
            <a:avLst>
              <a:gd name="adj" fmla="val 20000"/>
            </a:avLst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868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mock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219456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09928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2002536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2295144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43200" y="219456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2944368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3236976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3529584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977640" y="219456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4178808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4471416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4764024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02920" y="2971800"/>
            <a:ext cx="868680" cy="685800"/>
          </a:xfrm>
          <a:prstGeom prst="roundRect">
            <a:avLst>
              <a:gd name="adj" fmla="val 20000"/>
            </a:avLst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3108960"/>
            <a:ext cx="868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CoV2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08760" y="2971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1709928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2002536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2295144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743200" y="2971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Oval 30"/>
          <p:cNvSpPr/>
          <p:nvPr/>
        </p:nvSpPr>
        <p:spPr>
          <a:xfrm>
            <a:off x="2944368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3236976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29584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977640" y="2971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Oval 34"/>
          <p:cNvSpPr/>
          <p:nvPr/>
        </p:nvSpPr>
        <p:spPr>
          <a:xfrm>
            <a:off x="4178808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71416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Oval 36"/>
          <p:cNvSpPr/>
          <p:nvPr/>
        </p:nvSpPr>
        <p:spPr>
          <a:xfrm>
            <a:off x="4764024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379475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</a:rPr>
              <a:t>3 tissues × 2 conditions × 3 donors = </a:t>
            </a:r>
            <a:r>
              <a:rPr sz="1400" b="1" i="0">
                <a:solidFill>
                  <a:srgbClr val="222222"/>
                </a:solidFill>
              </a:rPr>
              <a:t>18 samples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1691640"/>
            <a:ext cx="3200400" cy="260604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23560" y="1828800"/>
            <a:ext cx="301752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1F5F66"/>
                </a:solidFill>
                <a:latin typeface="Courier New"/>
              </a:rPr>
              <a:t>Exercises/data/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ourier New"/>
              </a:rPr>
              <a:t>sample_metadata.csv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sample · tissue · condition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222222"/>
                </a:solidFill>
                <a:latin typeface="Courier New"/>
              </a:rPr>
              <a:t>GSE164073_Eye_count_matrix.tsv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raw counts, genes × samples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ourier New"/>
              </a:rPr>
              <a:t>log2cpm_filtered.csv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normalised expression</a:t>
            </a:r>
          </a:p>
          <a:p>
            <a:pPr>
              <a:spcAft>
                <a:spcPts val="300"/>
              </a:spcAft>
            </a:pPr>
            <a:r>
              <a:rPr sz="1100" b="1" i="0">
                <a:solidFill>
                  <a:srgbClr val="222222"/>
                </a:solidFill>
                <a:latin typeface="Courier New"/>
              </a:rPr>
              <a:t>de_cornea_CoV2_vs_mock.csv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DE results (PyDESeq2)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120640"/>
            <a:ext cx="818387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166360"/>
            <a:ext cx="7955279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</a:rPr>
              <a:t>Same data in </a:t>
            </a:r>
            <a:r>
              <a:rPr sz="1300" b="1" i="0">
                <a:solidFill>
                  <a:srgbClr val="222222"/>
                </a:solidFill>
              </a:rPr>
              <a:t>Day 2 (ggplot2)</a:t>
            </a:r>
            <a:r>
              <a:rPr sz="1300" b="0" i="0">
                <a:solidFill>
                  <a:srgbClr val="222222"/>
                </a:solidFill>
              </a:rPr>
              <a:t> and in the QLS-MiCM Differential Gene Expression workshop. Today we focus on </a:t>
            </a:r>
            <a:r>
              <a:rPr sz="1300" b="1" i="1">
                <a:solidFill>
                  <a:srgbClr val="222222"/>
                </a:solidFill>
              </a:rPr>
              <a:t>showing</a:t>
            </a:r>
            <a:r>
              <a:rPr sz="1300" b="0" i="0">
                <a:solidFill>
                  <a:srgbClr val="222222"/>
                </a:solidFill>
              </a:rPr>
              <a:t> data, not on the statistics behind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Interactive workshop — open the notebook!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6017" y="3736571"/>
            <a:ext cx="2965565" cy="76944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CA" sz="1100" dirty="0">
                <a:solidFill>
                  <a:srgbClr val="222222"/>
                </a:solidFill>
                <a:latin typeface="Courier New"/>
              </a:rPr>
              <a:t>QLS-</a:t>
            </a:r>
            <a:r>
              <a:rPr lang="en-CA" sz="1100" dirty="0" err="1">
                <a:solidFill>
                  <a:srgbClr val="222222"/>
                </a:solidFill>
                <a:latin typeface="Courier New"/>
              </a:rPr>
              <a:t>MiCM</a:t>
            </a:r>
            <a:r>
              <a:rPr lang="en-CA" sz="1100" dirty="0">
                <a:solidFill>
                  <a:srgbClr val="222222"/>
                </a:solidFill>
                <a:latin typeface="Courier New"/>
              </a:rPr>
              <a:t>/Fall-2026-Bootcamp-Data-Visualization-in-Python/blob/main/Exercises/scripts/</a:t>
            </a:r>
            <a:r>
              <a:rPr lang="en-CA" sz="1100" dirty="0" err="1">
                <a:solidFill>
                  <a:srgbClr val="222222"/>
                </a:solidFill>
                <a:latin typeface="Courier New"/>
              </a:rPr>
              <a:t>DataVisualizationInPython.ipynb</a:t>
            </a:r>
            <a:endParaRPr sz="1100" b="0" i="0" dirty="0">
              <a:solidFill>
                <a:srgbClr val="222222"/>
              </a:solidFill>
              <a:latin typeface="Courier New"/>
            </a:endParaRP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85800" y="4626864"/>
            <a:ext cx="2286000" cy="548640"/>
          </a:xfrm>
          <a:prstGeom prst="roundRect">
            <a:avLst>
              <a:gd name="adj" fmla="val 8000"/>
            </a:avLst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hlinkClick r:id="rId4"/>
          </p:cNvPr>
          <p:cNvSpPr txBox="1"/>
          <p:nvPr/>
        </p:nvSpPr>
        <p:spPr>
          <a:xfrm>
            <a:off x="685800" y="4723292"/>
            <a:ext cx="22860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 dirty="0">
                <a:solidFill>
                  <a:srgbClr val="FFFFFF"/>
                </a:solidFill>
                <a:hlinkClick r:id="rId5"/>
              </a:rPr>
              <a:t>▶  Open in </a:t>
            </a:r>
            <a:r>
              <a:rPr sz="1600" b="1" i="0" dirty="0" err="1">
                <a:solidFill>
                  <a:srgbClr val="FFFFFF"/>
                </a:solidFill>
                <a:hlinkClick r:id="rId5"/>
              </a:rPr>
              <a:t>Colab</a:t>
            </a:r>
            <a:endParaRPr sz="1600" b="1" i="0" dirty="0">
              <a:solidFill>
                <a:srgbClr val="FFFFFF"/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3566160" y="132588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380744"/>
            <a:ext cx="457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289304"/>
            <a:ext cx="45720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Open the student notebook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in Google Colab (link in the README) — no install needed.</a:t>
            </a:r>
          </a:p>
        </p:txBody>
      </p:sp>
      <p:sp>
        <p:nvSpPr>
          <p:cNvPr id="10" name="Oval 9"/>
          <p:cNvSpPr/>
          <p:nvPr/>
        </p:nvSpPr>
        <p:spPr>
          <a:xfrm>
            <a:off x="3566160" y="228600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2340864"/>
            <a:ext cx="457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249424"/>
            <a:ext cx="45720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Run the first setup cell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it installs umap-learn &amp; adjustText and loads the data from GitHub.</a:t>
            </a:r>
          </a:p>
        </p:txBody>
      </p:sp>
      <p:sp>
        <p:nvSpPr>
          <p:cNvPr id="13" name="Oval 12"/>
          <p:cNvSpPr/>
          <p:nvPr/>
        </p:nvSpPr>
        <p:spPr>
          <a:xfrm>
            <a:off x="3566160" y="324612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3300984"/>
            <a:ext cx="457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209544"/>
            <a:ext cx="45720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Fill in the blanks ___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in each ✏️ Exercise cell, then run it.</a:t>
            </a:r>
          </a:p>
        </p:txBody>
      </p:sp>
      <p:sp>
        <p:nvSpPr>
          <p:cNvPr id="16" name="Oval 15"/>
          <p:cNvSpPr/>
          <p:nvPr/>
        </p:nvSpPr>
        <p:spPr>
          <a:xfrm>
            <a:off x="3566160" y="420624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66160" y="4261104"/>
            <a:ext cx="457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69664"/>
            <a:ext cx="45720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Stuck?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raise your hand — or peek at the solutions notebook.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EDB6C70-E7C1-568F-EE6D-52C41DBFCA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901931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Anatomy of a Matplotlib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1</a:t>
            </a:r>
          </a:p>
        </p:txBody>
      </p:sp>
      <p:pic>
        <p:nvPicPr>
          <p:cNvPr id="4" name="Picture 3" descr="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97280"/>
            <a:ext cx="4937760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32120" y="1097280"/>
            <a:ext cx="3200400" cy="132588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23559" y="1143000"/>
            <a:ext cx="3017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9CDCFE"/>
                </a:solidFill>
              </a:rPr>
              <a:t>Implicit  (plt.)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59" y="1417320"/>
            <a:ext cx="3017520" cy="9601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plt.plot(x, y)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plt.title('...')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8AC07A"/>
                </a:solidFill>
                <a:latin typeface="Courier New"/>
              </a:rPr>
              <a:t># which plot am I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8AC07A"/>
                </a:solidFill>
                <a:latin typeface="Courier New"/>
              </a:rPr>
              <a:t># editing 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560320"/>
            <a:ext cx="3200400" cy="160020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23559" y="2606039"/>
            <a:ext cx="3017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9CDCFE"/>
                </a:solidFill>
              </a:rPr>
              <a:t>Explicit / OO  ✔ recommended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2880359"/>
            <a:ext cx="3017520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fig, ax = plt.subplots()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ax.plot(x, y)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ax.set_title('...')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ax.set_xlabel('...')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4297680"/>
            <a:ext cx="3200400" cy="1554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C8102E"/>
                </a:solidFill>
              </a:rPr>
              <a:t>•  Figure</a:t>
            </a:r>
            <a:r>
              <a:rPr sz="1300" b="0" i="0">
                <a:solidFill>
                  <a:srgbClr val="222222"/>
                </a:solidFill>
              </a:rPr>
              <a:t> = the canvas (size, saving)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009E73"/>
                </a:solidFill>
              </a:rPr>
              <a:t>Axes</a:t>
            </a:r>
            <a:r>
              <a:rPr sz="1300" b="0" i="0">
                <a:solidFill>
                  <a:srgbClr val="222222"/>
                </a:solidFill>
              </a:rPr>
              <a:t> = one plot (data, labels, ticks)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0" i="0">
                <a:solidFill>
                  <a:srgbClr val="222222"/>
                </a:solidFill>
              </a:rPr>
              <a:t>Seaborn draws </a:t>
            </a:r>
            <a:r>
              <a:rPr sz="1300" b="0" i="1">
                <a:solidFill>
                  <a:srgbClr val="222222"/>
                </a:solidFill>
              </a:rPr>
              <a:t>on</a:t>
            </a:r>
            <a:r>
              <a:rPr sz="1300" b="0" i="0">
                <a:solidFill>
                  <a:srgbClr val="222222"/>
                </a:solidFill>
              </a:rPr>
              <a:t> Axes → anything is customisable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Seaborn speaks tidy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2</a:t>
            </a:r>
          </a:p>
        </p:txBody>
      </p:sp>
      <p:pic>
        <p:nvPicPr>
          <p:cNvPr id="4" name="Picture 3" descr="ti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27642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3977639"/>
            <a:ext cx="4023360" cy="182880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3749039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Axes-level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22222"/>
                </a:solidFill>
                <a:latin typeface="Courier New"/>
              </a:rPr>
              <a:t>sns.scatterplot · boxplot · violinplot · heatmap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</a:rPr>
              <a:t>Draw on one Axes → pass ax= and place them in your own layout.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977639"/>
            <a:ext cx="4023360" cy="182880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00600" y="4069080"/>
            <a:ext cx="3749039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Figure-level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22222"/>
                </a:solidFill>
                <a:latin typeface="Courier New"/>
              </a:rPr>
              <a:t>sns.relplot · catplot · displot · clustermap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</a:rPr>
              <a:t>Create their own figure → easy small multiples with col= / row=.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With small n, show the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2</a:t>
            </a:r>
          </a:p>
        </p:txBody>
      </p:sp>
      <p:pic>
        <p:nvPicPr>
          <p:cNvPr id="4" name="Picture 3" descr="c2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229600" cy="31858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526280"/>
            <a:ext cx="813816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n = 3 per group: </a:t>
            </a:r>
            <a:r>
              <a:rPr sz="1400" b="0" i="0">
                <a:solidFill>
                  <a:srgbClr val="222222"/>
                </a:solidFill>
              </a:rPr>
              <a:t>a bar of means hides sample size, spread and outliers.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Overlay individual observations </a:t>
            </a:r>
            <a:r>
              <a:rPr sz="1400" b="0" i="0">
                <a:solidFill>
                  <a:srgbClr val="222222"/>
                </a:solidFill>
                <a:latin typeface="Courier New"/>
              </a:rPr>
              <a:t>(sns.stripplot</a:t>
            </a:r>
            <a:r>
              <a:rPr sz="1400" b="0" i="0">
                <a:solidFill>
                  <a:srgbClr val="222222"/>
                </a:solidFill>
              </a:rPr>
              <a:t> on top of </a:t>
            </a:r>
            <a:r>
              <a:rPr sz="1400" b="0" i="0">
                <a:solidFill>
                  <a:srgbClr val="222222"/>
                </a:solidFill>
                <a:latin typeface="Courier New"/>
              </a:rPr>
              <a:t>sns.boxplot</a:t>
            </a:r>
            <a:r>
              <a:rPr sz="1400" b="0" i="0">
                <a:solidFill>
                  <a:srgbClr val="222222"/>
                </a:solidFill>
              </a:rPr>
              <a:t>) and define error bars in the legend.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Keep colours consistent: </a:t>
            </a:r>
            <a:r>
              <a:rPr sz="1400" b="0" i="0">
                <a:solidFill>
                  <a:srgbClr val="222222"/>
                </a:solidFill>
              </a:rPr>
              <a:t>define a palette dictionary once and reuse it everywhere.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Relationships: volcano &amp; MA 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3</a:t>
            </a:r>
          </a:p>
        </p:txBody>
      </p:sp>
      <p:pic>
        <p:nvPicPr>
          <p:cNvPr id="4" name="Picture 3" descr="c25_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521656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40680" y="1188720"/>
            <a:ext cx="329184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x</a:t>
            </a:r>
            <a:r>
              <a:rPr sz="1400" b="0" i="0">
                <a:solidFill>
                  <a:srgbClr val="222222"/>
                </a:solidFill>
              </a:rPr>
              <a:t>: effect size — log₂ fold change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y</a:t>
            </a:r>
            <a:r>
              <a:rPr sz="1400" b="0" i="0">
                <a:solidFill>
                  <a:srgbClr val="222222"/>
                </a:solidFill>
              </a:rPr>
              <a:t>: significance — −log₁₀ adj. p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Threshold lines</a:t>
            </a:r>
            <a:r>
              <a:rPr sz="1400" b="0" i="0">
                <a:solidFill>
                  <a:srgbClr val="222222"/>
                </a:solidFill>
              </a:rPr>
              <a:t> via ax.axhline / ax.axvline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Label key genes</a:t>
            </a:r>
            <a:r>
              <a:rPr sz="1400" b="0" i="0">
                <a:solidFill>
                  <a:srgbClr val="222222"/>
                </a:solidFill>
              </a:rPr>
              <a:t> — adjustText avoids overlaps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  <a:latin typeface="Courier New"/>
              </a:rPr>
              <a:t>rasterized=True</a:t>
            </a:r>
            <a:r>
              <a:rPr sz="1400" b="0" i="0">
                <a:solidFill>
                  <a:srgbClr val="222222"/>
                </a:solidFill>
              </a:rPr>
              <a:t> for &gt;10k points: small, fast vector files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1F5F66"/>
                </a:solidFill>
              </a:rPr>
              <a:t>Exercise 3: </a:t>
            </a:r>
            <a:r>
              <a:rPr sz="1400" b="0" i="0">
                <a:solidFill>
                  <a:srgbClr val="222222"/>
                </a:solidFill>
              </a:rPr>
              <a:t>build the MA plot (mean expression vs fold change)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Heatmaps: choose the colour map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4</a:t>
            </a:r>
          </a:p>
        </p:txBody>
      </p:sp>
      <p:pic>
        <p:nvPicPr>
          <p:cNvPr id="4" name="Picture 3" descr="colorm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43000"/>
            <a:ext cx="5120640" cy="2901696"/>
          </a:xfrm>
          <a:prstGeom prst="rect">
            <a:avLst/>
          </a:prstGeom>
        </p:spPr>
      </p:pic>
      <p:pic>
        <p:nvPicPr>
          <p:cNvPr id="5" name="Picture 4" descr="c32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005840"/>
            <a:ext cx="353892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50292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Sequential</a:t>
            </a:r>
            <a:r>
              <a:rPr sz="1300" b="0" i="0">
                <a:solidFill>
                  <a:srgbClr val="222222"/>
                </a:solidFill>
              </a:rPr>
              <a:t> for low → high (correlations, counts)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Diverging</a:t>
            </a:r>
            <a:r>
              <a:rPr sz="1300" b="0" i="0">
                <a:solidFill>
                  <a:srgbClr val="222222"/>
                </a:solidFill>
              </a:rPr>
              <a:t> + </a:t>
            </a:r>
            <a:r>
              <a:rPr sz="1300" b="0" i="0">
                <a:solidFill>
                  <a:srgbClr val="222222"/>
                </a:solidFill>
                <a:latin typeface="Courier New"/>
              </a:rPr>
              <a:t>center=0</a:t>
            </a:r>
            <a:r>
              <a:rPr sz="1300" b="0" i="0">
                <a:solidFill>
                  <a:srgbClr val="222222"/>
                </a:solidFill>
              </a:rPr>
              <a:t> for z-scores, fold changes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z-score genes</a:t>
            </a:r>
            <a:r>
              <a:rPr sz="1300" b="0" i="0">
                <a:solidFill>
                  <a:srgbClr val="222222"/>
                </a:solidFill>
              </a:rPr>
              <a:t> (</a:t>
            </a:r>
            <a:r>
              <a:rPr sz="1300" b="0" i="0">
                <a:solidFill>
                  <a:srgbClr val="222222"/>
                </a:solidFill>
                <a:latin typeface="Courier New"/>
              </a:rPr>
              <a:t>z_score=0</a:t>
            </a:r>
            <a:r>
              <a:rPr sz="1300" b="0" i="0">
                <a:solidFill>
                  <a:srgbClr val="222222"/>
                </a:solidFill>
              </a:rPr>
              <a:t>) to compare patterns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Annotate groups</a:t>
            </a:r>
            <a:r>
              <a:rPr sz="1300" b="0" i="0">
                <a:solidFill>
                  <a:srgbClr val="222222"/>
                </a:solidFill>
              </a:rPr>
              <a:t> with </a:t>
            </a:r>
            <a:r>
              <a:rPr sz="1300" b="0" i="0">
                <a:solidFill>
                  <a:srgbClr val="222222"/>
                </a:solidFill>
                <a:latin typeface="Courier New"/>
              </a:rPr>
              <a:t>col_colors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Dimensionality reduction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5</a:t>
            </a:r>
          </a:p>
        </p:txBody>
      </p:sp>
      <p:pic>
        <p:nvPicPr>
          <p:cNvPr id="4" name="Picture 3" descr="c37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7863840" cy="24142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840480"/>
          <a:ext cx="8321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PCA</a:t>
                      </a:r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t-SNE</a:t>
                      </a:r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UMAP</a:t>
                      </a:r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Type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linear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non-linear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non-linear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Axes mean…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% variance explained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nothing (no units)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nothing (no units)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Good for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bulk RNA-seq, global structure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local clusters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clusters + some global layout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Report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 features, scaling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perplexity, seed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n_neighbors, min_dist, seed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456432"/>
            <a:ext cx="83210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</a:rPr>
              <a:t>Tissue dominates PC1–PC2; infection only separates samples in a </a:t>
            </a:r>
            <a:r>
              <a:rPr sz="1200" b="1" i="0">
                <a:solidFill>
                  <a:srgbClr val="555555"/>
                </a:solidFill>
              </a:rPr>
              <a:t>within-tissue</a:t>
            </a:r>
            <a:r>
              <a:rPr sz="1200" b="0" i="0">
                <a:solidFill>
                  <a:srgbClr val="555555"/>
                </a:solidFill>
              </a:rPr>
              <a:t> PCA (notebook).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Multi-panel figures &amp;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6</a:t>
            </a:r>
          </a:p>
        </p:txBody>
      </p:sp>
      <p:pic>
        <p:nvPicPr>
          <p:cNvPr id="4" name="Picture 3" descr="Figure1_cornea_Co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51560"/>
            <a:ext cx="5029200" cy="391238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32120" y="1051560"/>
            <a:ext cx="3246120" cy="251460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23559" y="1097280"/>
            <a:ext cx="3063239" cy="2423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MM = 1 / 25.4  # mm -&gt; inch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fig, axd = plt.subplot_mosaic(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   'AB;CD',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   figsize=(180*MM, 140*MM),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   layout='constrained')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plt.rcParams['pdf.fonttype'] = 42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plt.rcParams['svg.fonttype'] = 'none'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8AC07A"/>
                </a:solidFill>
                <a:latin typeface="Courier New"/>
              </a:rPr>
              <a:t># no bbox_inches='tight': keep 180 mm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fig.savefig('Fig1.pdf')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fig.savefig('Fig1.png', dpi=600)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3749039"/>
            <a:ext cx="324612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Size in mm</a:t>
            </a:r>
            <a:r>
              <a:rPr sz="1250" b="0" i="0">
                <a:solidFill>
                  <a:srgbClr val="222222"/>
                </a:solidFill>
              </a:rPr>
              <a:t>: 85 (1 col) / 180 (2 col)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Fonts ≥ 6 pt</a:t>
            </a:r>
            <a:r>
              <a:rPr sz="1250" b="0" i="0">
                <a:solidFill>
                  <a:srgbClr val="222222"/>
                </a:solidFill>
              </a:rPr>
              <a:t> at final size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Editable text</a:t>
            </a:r>
            <a:r>
              <a:rPr sz="1250" b="0" i="0">
                <a:solidFill>
                  <a:srgbClr val="222222"/>
                </a:solidFill>
              </a:rPr>
              <a:t> in Inkscape via fonttype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Vector</a:t>
            </a:r>
            <a:r>
              <a:rPr sz="1250" b="0" i="0">
                <a:solidFill>
                  <a:srgbClr val="222222"/>
                </a:solidFill>
              </a:rPr>
              <a:t> for editing; </a:t>
            </a:r>
            <a:r>
              <a:rPr sz="1250" b="1" i="0">
                <a:solidFill>
                  <a:srgbClr val="222222"/>
                </a:solidFill>
              </a:rPr>
              <a:t>600 dpi</a:t>
            </a:r>
            <a:r>
              <a:rPr sz="1250" b="0" i="0">
                <a:solidFill>
                  <a:srgbClr val="222222"/>
                </a:solidFill>
              </a:rPr>
              <a:t> 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20640"/>
            <a:ext cx="50292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</a:rPr>
              <a:t>Panel D uses </a:t>
            </a:r>
            <a:r>
              <a:rPr sz="1200" b="0" i="0">
                <a:solidFill>
                  <a:srgbClr val="555555"/>
                </a:solidFill>
                <a:latin typeface="Courier New"/>
              </a:rPr>
              <a:t>sns.heatmap</a:t>
            </a:r>
            <a:r>
              <a:rPr sz="1200" b="0" i="0">
                <a:solidFill>
                  <a:srgbClr val="555555"/>
                </a:solidFill>
              </a:rPr>
              <a:t> with SciPy clustering — figure-level </a:t>
            </a:r>
            <a:r>
              <a:rPr sz="1200" b="0" i="0">
                <a:solidFill>
                  <a:srgbClr val="555555"/>
                </a:solidFill>
                <a:latin typeface="Courier New"/>
              </a:rPr>
              <a:t>clustermap</a:t>
            </a:r>
            <a:r>
              <a:rPr sz="1200" b="0" i="0">
                <a:solidFill>
                  <a:srgbClr val="555555"/>
                </a:solidFill>
              </a:rPr>
              <a:t> can't live inside a layout.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Publication-figure checklist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457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98448"/>
            <a:ext cx="329184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Labels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every axis labelled with units; gene names in italics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18872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00600" y="1280160"/>
            <a:ext cx="457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298448"/>
            <a:ext cx="329184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Colour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same meaning in every panel; colour-blind safe; no rainbow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07208"/>
            <a:ext cx="329184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Honesty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show individual points for small n; bars start at zero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807208"/>
            <a:ext cx="329184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Size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built at journal column width; fonts ≥ 6 pt when printed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97679"/>
            <a:ext cx="457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329184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Files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vector PDF/SVG + 600 dpi PNG; dense layers rasterised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2062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0" y="4297679"/>
            <a:ext cx="457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329184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Reproducible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code saved; seeds &amp; parameters reported in Methods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What's next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3931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Coming up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393192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2 · </a:t>
            </a:r>
            <a:r>
              <a:rPr sz="1400" b="0" i="0">
                <a:solidFill>
                  <a:srgbClr val="222222"/>
                </a:solidFill>
              </a:rPr>
              <a:t>same plots in R with ggplot2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3 · </a:t>
            </a:r>
            <a:r>
              <a:rPr sz="1400" b="0" i="0">
                <a:solidFill>
                  <a:srgbClr val="222222"/>
                </a:solidFill>
              </a:rPr>
              <a:t>bring your own data — good &amp; bad practices, hands-on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4 · </a:t>
            </a:r>
            <a:r>
              <a:rPr sz="1400" b="0" i="0">
                <a:solidFill>
                  <a:srgbClr val="222222"/>
                </a:solidFill>
              </a:rPr>
              <a:t>bring today's PDF/SVG to Inkscape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5 · </a:t>
            </a:r>
            <a:r>
              <a:rPr sz="1400" b="0" i="0">
                <a:solidFill>
                  <a:srgbClr val="222222"/>
                </a:solidFill>
              </a:rPr>
              <a:t>put the final figure into LaTeX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143000"/>
            <a:ext cx="40233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Learn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00200"/>
            <a:ext cx="402336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200" b="0" i="0">
                <a:solidFill>
                  <a:srgbClr val="222222"/>
                </a:solidFill>
                <a:latin typeface="Courier New"/>
              </a:rPr>
              <a:t>matplotlib.org/cheatsheets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200" b="0" i="0">
                <a:solidFill>
                  <a:srgbClr val="222222"/>
                </a:solidFill>
                <a:latin typeface="Courier New"/>
              </a:rPr>
              <a:t>seaborn.pydata.org/tutorial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200" b="0" i="0">
                <a:solidFill>
                  <a:srgbClr val="222222"/>
                </a:solidFill>
                <a:latin typeface="Courier New"/>
              </a:rPr>
              <a:t>data-to-viz.com</a:t>
            </a:r>
            <a:r>
              <a:rPr sz="1300" b="0" i="0">
                <a:solidFill>
                  <a:srgbClr val="222222"/>
                </a:solidFill>
              </a:rPr>
              <a:t> — which chart for which data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0" i="0">
                <a:solidFill>
                  <a:srgbClr val="222222"/>
                </a:solidFill>
              </a:rPr>
              <a:t>Rougier et al. 2014 </a:t>
            </a:r>
            <a:r>
              <a:rPr sz="1300" b="0" i="1">
                <a:solidFill>
                  <a:srgbClr val="222222"/>
                </a:solidFill>
              </a:rPr>
              <a:t>Ten simple rules for better figures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0" i="0">
                <a:solidFill>
                  <a:srgbClr val="222222"/>
                </a:solidFill>
              </a:rPr>
              <a:t>Crameri et al. 2020 </a:t>
            </a:r>
            <a:r>
              <a:rPr sz="1300" b="0" i="1">
                <a:solidFill>
                  <a:srgbClr val="222222"/>
                </a:solidFill>
              </a:rPr>
              <a:t>The misuse of colour in science communication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8183879" cy="1143000"/>
          </a:xfrm>
          <a:prstGeom prst="roundRect">
            <a:avLst>
              <a:gd name="adj" fmla="val 8000"/>
            </a:avLst>
          </a:prstGeom>
          <a:solidFill>
            <a:srgbClr val="FDEEEF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7863840" cy="1051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Homework (5 min): </a:t>
            </a:r>
            <a:r>
              <a:rPr sz="1400" b="0" i="0">
                <a:solidFill>
                  <a:srgbClr val="222222"/>
                </a:solidFill>
              </a:rPr>
              <a:t>keep your exported </a:t>
            </a:r>
            <a:r>
              <a:rPr sz="1400" b="1" i="0">
                <a:solidFill>
                  <a:srgbClr val="222222"/>
                </a:solidFill>
                <a:latin typeface="Courier New"/>
              </a:rPr>
              <a:t>Figure1_cornea_CoV2.pdf / .svg</a:t>
            </a:r>
            <a:r>
              <a:rPr sz="1400" b="0" i="0">
                <a:solidFill>
                  <a:srgbClr val="222222"/>
                </a:solidFill>
              </a:rPr>
              <a:t> — you will polish it in Inkscape on Thursday. Think about which of your own datasets you'd like to bring on Wednesday.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455D8-6138-FF10-C50B-7F061CFCC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Feedback?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925B-3A69-93BC-3629-FB0029949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235577"/>
            <a:ext cx="7886700" cy="546100"/>
          </a:xfrm>
        </p:spPr>
        <p:txBody>
          <a:bodyPr/>
          <a:lstStyle/>
          <a:p>
            <a:pPr marL="0" indent="0" algn="ctr">
              <a:buNone/>
            </a:pPr>
            <a:r>
              <a:rPr lang="en-CA" dirty="0">
                <a:hlinkClick r:id="rId2"/>
              </a:rPr>
              <a:t>https://tinyurl.com/QLS-MiCM-Feedback</a:t>
            </a:r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4B00F5-4E23-01C0-17B6-C028926B6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702" y="1430981"/>
            <a:ext cx="3804596" cy="380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55313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6234</TotalTime>
  <Words>1927</Words>
  <Application>Microsoft Macintosh PowerPoint</Application>
  <PresentationFormat>On-screen Show (4:3)</PresentationFormat>
  <Paragraphs>242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Courier New</vt:lpstr>
      <vt:lpstr>Helvetica</vt:lpstr>
      <vt:lpstr>Helvetica Light</vt:lpstr>
      <vt:lpstr>Open Sans Light</vt:lpstr>
      <vt:lpstr>Thème Office</vt:lpstr>
      <vt:lpstr>Data Visualization in Python</vt:lpstr>
      <vt:lpstr>PowerPoint Presentation</vt:lpstr>
      <vt:lpstr>PowerPoint Presentation</vt:lpstr>
      <vt:lpstr>The Code to Manuscript bootcamp</vt:lpstr>
      <vt:lpstr>Learning outcomes</vt:lpstr>
      <vt:lpstr>Outline</vt:lpstr>
      <vt:lpstr>Today's dataset: SARS-CoV-2 &amp; the eye</vt:lpstr>
      <vt:lpstr>Interactive workshop — open the notebook!</vt:lpstr>
      <vt:lpstr>Anatomy of a Matplotlib figure</vt:lpstr>
      <vt:lpstr>Seaborn speaks tidy data</vt:lpstr>
      <vt:lpstr>With small n, show the points</vt:lpstr>
      <vt:lpstr>Relationships: volcano &amp; MA plots</vt:lpstr>
      <vt:lpstr>Heatmaps: choose the colour map on purpose</vt:lpstr>
      <vt:lpstr>Dimensionality reduction at a glance</vt:lpstr>
      <vt:lpstr>Multi-panel figures &amp; export</vt:lpstr>
      <vt:lpstr>Publication-figure checklist</vt:lpstr>
      <vt:lpstr>What's next &amp; resources</vt:lpstr>
      <vt:lpstr>Feedback?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Zahra Tavakol Hamedani</cp:lastModifiedBy>
  <cp:revision>191</cp:revision>
  <dcterms:created xsi:type="dcterms:W3CDTF">2019-07-29T14:54:16Z</dcterms:created>
  <dcterms:modified xsi:type="dcterms:W3CDTF">2026-10-25T15:44:52Z</dcterms:modified>
</cp:coreProperties>
</file>